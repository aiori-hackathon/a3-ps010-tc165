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1"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p:scale>
          <a:sx n="30" d="100"/>
          <a:sy n="30"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3"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4"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10/16/2026</a:t>
            </a:fld>
            <a:endParaRPr lang="zh-CN" altLang="en-US" sz="1200">
              <a:latin typeface="Calibri" pitchFamily="0" charset="0"/>
              <a:ea typeface="等线" pitchFamily="0" charset="0"/>
              <a:cs typeface="Calibri" pitchFamily="0" charset="0"/>
            </a:endParaRPr>
          </a:p>
        </p:txBody>
      </p:sp>
      <p:sp>
        <p:nvSpPr>
          <p:cNvPr id="5" name="对象"/>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6"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53557411"/>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5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Open with the one-line promise: we classify IP addresses by network type using evidence, and we say 'unknown' when the evidence is not enough. Introduce the two-person team split: data engineering and ML.</a:t>
            </a:r>
            <a:endParaRPr lang="zh-CN" altLang="en-US"/>
          </a:p>
        </p:txBody>
      </p:sp>
    </p:spTree>
    <p:extLst>
      <p:ext uri="{BB962C8B-B14F-4D97-AF65-F5344CB8AC3E}">
        <p14:creationId xmlns:p14="http://schemas.microsoft.com/office/powerpoint/2010/main" val="1094874893"/>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99"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0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The core challenge: classify IPs from evidence, not from how the address looks. Six issues: scattered data, noisy labels, overlapping categories, change over time, cost of wrong answers, and the need to abstain when evidence is weak.</a:t>
            </a:r>
            <a:endParaRPr lang="zh-CN" altLang="en-US"/>
          </a:p>
        </p:txBody>
      </p:sp>
    </p:spTree>
    <p:extLst>
      <p:ext uri="{BB962C8B-B14F-4D97-AF65-F5344CB8AC3E}">
        <p14:creationId xmlns:p14="http://schemas.microsoft.com/office/powerpoint/2010/main" val="991980764"/>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14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4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Stress that the six labels are not mutually exclusive in the real world, which is exactly why a rules-only approach fails and why an 'Unknown' class is a feature, not a gap.</a:t>
            </a:r>
            <a:endParaRPr lang="zh-CN" altLang="en-US"/>
          </a:p>
        </p:txBody>
      </p:sp>
    </p:spTree>
    <p:extLst>
      <p:ext uri="{BB962C8B-B14F-4D97-AF65-F5344CB8AC3E}">
        <p14:creationId xmlns:p14="http://schemas.microsoft.com/office/powerpoint/2010/main" val="934934103"/>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176"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77"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Only the most relevant standards: RFC 1918, RFC 6598, RFC 6890/IANA registries and MaxMind's anonymous-IP documentation. Our contribution is not new rules, but measured ML on carefully prepared evidence.</a:t>
            </a:r>
            <a:endParaRPr lang="zh-CN" altLang="en-US"/>
          </a:p>
        </p:txBody>
      </p:sp>
    </p:spTree>
    <p:extLst>
      <p:ext uri="{BB962C8B-B14F-4D97-AF65-F5344CB8AC3E}">
        <p14:creationId xmlns:p14="http://schemas.microsoft.com/office/powerpoint/2010/main" val="1810595692"/>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208"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0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Five stages from data to prediction. Emphasise: features unavailable at prediction time are never used (no leakage), and the final output always carries evidence plus an uncertainty indicator.</a:t>
            </a:r>
            <a:endParaRPr lang="zh-CN" altLang="en-US"/>
          </a:p>
        </p:txBody>
      </p:sp>
    </p:spTree>
    <p:extLst>
      <p:ext uri="{BB962C8B-B14F-4D97-AF65-F5344CB8AC3E}">
        <p14:creationId xmlns:p14="http://schemas.microsoft.com/office/powerpoint/2010/main" val="594740851"/>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272"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7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Walk the top lane (Team Member 1) left to right, drop down the right side into the ML lane (Team Member 2), and read that lane right to left to the output. The dashed arrow is the quality feedback loop from evaluation back to data engineering.</a:t>
            </a:r>
            <a:endParaRPr lang="zh-CN" altLang="en-US"/>
          </a:p>
        </p:txBody>
      </p:sp>
    </p:spTree>
    <p:extLst>
      <p:ext uri="{BB962C8B-B14F-4D97-AF65-F5344CB8AC3E}">
        <p14:creationId xmlns:p14="http://schemas.microsoft.com/office/powerpoint/2010/main" val="1065423786"/>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321"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22"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Follow the numbers: P1 to P4. The key design point is that P4 reuses exactly the same input validation and feature preparation as training, so predictions are consistent with how the model was built.</a:t>
            </a:r>
            <a:endParaRPr lang="zh-CN" altLang="en-US"/>
          </a:p>
        </p:txBody>
      </p:sp>
    </p:spTree>
    <p:extLst>
      <p:ext uri="{BB962C8B-B14F-4D97-AF65-F5344CB8AC3E}">
        <p14:creationId xmlns:p14="http://schemas.microsoft.com/office/powerpoint/2010/main" val="85654234"/>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368"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69"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Six milestones with clear owners. Team Member 1 owns data; Team Member 2 owns models; both own requirements and the final demo. The methodology is iterative: quality gates before training and after each experiment.</a:t>
            </a:r>
            <a:endParaRPr lang="zh-CN" altLang="en-US"/>
          </a:p>
        </p:txBody>
      </p:sp>
    </p:spTree>
    <p:extLst>
      <p:ext uri="{BB962C8B-B14F-4D97-AF65-F5344CB8AC3E}">
        <p14:creationId xmlns:p14="http://schemas.microsoft.com/office/powerpoint/2010/main" val="1638051064"/>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397"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398"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References support the background, address-classification rules and existing network-intelligence solutions. They are not evidence of our own model's performance; that will be reported after testing.</a:t>
            </a:r>
            <a:endParaRPr lang="zh-CN" altLang="en-US"/>
          </a:p>
        </p:txBody>
      </p:sp>
    </p:spTree>
    <p:extLst>
      <p:ext uri="{BB962C8B-B14F-4D97-AF65-F5344CB8AC3E}">
        <p14:creationId xmlns:p14="http://schemas.microsoft.com/office/powerpoint/2010/main" val="387115136"/>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8"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433"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434"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Close by restating the promise: evidence-based classification that measures its performance and admits uncertainty. Invite questions.</a:t>
            </a:r>
            <a:endParaRPr lang="zh-CN" altLang="en-US"/>
          </a:p>
        </p:txBody>
      </p:sp>
    </p:spTree>
    <p:extLst>
      <p:ext uri="{BB962C8B-B14F-4D97-AF65-F5344CB8AC3E}">
        <p14:creationId xmlns:p14="http://schemas.microsoft.com/office/powerpoint/2010/main" val="2059595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1.png"/></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ctrTitle"/>
          </p:nvPr>
        </p:nvSpPr>
        <p:spPr>
          <a:xfrm xmlns:a="http://schemas.openxmlformats.org/drawingml/2006/main">
            <a:off x="685800" y="1597818"/>
            <a:ext cx="7772400" cy="1102518"/>
          </a:xfrm>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subTitle" idx="1"/>
          </p:nvPr>
        </p:nvSpPr>
        <p:spPr>
          <a:xfrm xmlns:a="http://schemas.openxmlformats.org/drawingml/2006/main">
            <a:off x="1371600" y="2914649"/>
            <a:ext cx="6400800" cy="1314449"/>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rPr lang="zh-CN" altLang="en-US" smtClean="0"/>
              <a:t>单击此处编辑母版副标题样式</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827801541"/>
      </p:ext>
    </p:extLst>
  </p:cSld>
  <p:clrMapOvr>
    <a:masterClrMapping xmlns:a="http://schemas.openxmlformats.org/drawingml/2006/main"/>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74974632"/>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979725940"/>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899748112"/>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9"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983306879"/>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5"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019726896"/>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
        <p:nvSpPr>
          <p:cNvPr id="4"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374148436"/>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80131629"/>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
        <p:nvSpPr>
          <p:cNvPr id="7"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050082178"/>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281571973"/>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6" name="文本框"/>
          <p:cNvSpPr>
            <a:spLocks xmlns:a="http://schemas.openxmlformats.org/drawingml/2006/main" noGrp="1"/>
          </p:cNvSpPr>
          <p:nvPr>
            <p:ph type="sldNum" sz="quarter" idx="12"/>
          </p:nvPr>
        </p:nvSpPr>
        <p:spPr/>
        <p:txBody>
          <a:bodyPr xmlns:a="http://schemas.openxmlformats.org/drawingml/2006/main"/>
          <a:lstStyle xmlns:a="http://schemas.openxmlformats.org/drawingml/2006/main"/>
          <a:p xmlns:a="http://schemas.openxmlformats.org/drawingml/2006/main">
            <a:fld id="{3E00D155-3BB6-43CF-9AC4-BC63A66E74A9}" type="slidenum">
              <a:rPr lang="zh-CN" altLang="en-US" smtClean="0"/>
              <a:t/>
            </a:fld>
            <a:endParaRPr lang="zh-CN" altLang="en-US"/>
          </a:p>
        </p:txBody>
      </p:sp>
    </p:spTree>
    <p:extLst>
      <p:ext uri="{BB962C8B-B14F-4D97-AF65-F5344CB8AC3E}">
        <p14:creationId xmlns:p14="http://schemas.microsoft.com/office/powerpoint/2010/main" val="1536390211"/>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bg>
      <p:bgPr>
        <a:solidFill xmlns:a="http://schemas.openxmlformats.org/drawingml/2006/main">
          <a:srgbClr val="0A1F6B"/>
        </a:solidFill>
      </p:bgPr>
    </p:bg>
    <p:spTree>
      <p:nvGrpSpPr>
        <p:cNvPr id="1" name=""/>
        <p:cNvGrpSpPr/>
        <p:nvPr/>
      </p:nvGrpSpPr>
      <p:grpSpPr>
        <a:xfrm xmlns:a="http://schemas.openxmlformats.org/drawingml/2006/main">
          <a:off x="0" y="0"/>
          <a:ext cx="0" cy="0"/>
          <a:chOff x="0" y="0"/>
          <a:chExt cx="0" cy="0"/>
        </a:xfrm>
      </p:grpSpPr>
      <p:sp>
        <p:nvSpPr>
          <p:cNvPr id="9" name="文本框"/>
          <p:cNvSpPr>
            <a:spLocks xmlns:a="http://schemas.openxmlformats.org/drawingml/2006/main" noGrp="1"/>
          </p:cNvSpPr>
          <p:nvPr>
            <p:ph type="title"/>
          </p:nvPr>
        </p:nvSpPr>
        <p:spPr>
          <a:xfrm xmlns:a="http://schemas.openxmlformats.org/drawingml/2006/main" rot="0">
            <a:off x="548640" y="1417320"/>
            <a:ext cx="5394960" cy="1737359"/>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pPr marL="0" indent="0" algn="l"/>
            <a:endParaRPr lang="zh-CN" altLang="en-US" sz="3800" b="1">
              <a:solidFill>
                <a:schemeClr val="bg1"/>
              </a:solidFill>
            </a:endParaRPr>
          </a:p>
        </p:txBody>
      </p:sp>
    </p:spTree>
    <p:extLst>
      <p:ext uri="{BB962C8B-B14F-4D97-AF65-F5344CB8AC3E}">
        <p14:creationId xmlns:p14="http://schemas.microsoft.com/office/powerpoint/2010/main" val="1565382803"/>
      </p:ext>
    </p:extLst>
  </p:cSld>
  <p:clrMapOvr>
    <a:masterClrMapping xmlns:a="http://schemas.openxmlformats.org/drawingml/2006/main"/>
  </p:clrMapOvr>
</p:sldLayout>
</file>

<file path=ppt/slideLayouts/slideLayout13.xml><?xml version="1.0" encoding="utf-8"?>
<p:sldLayout xmlns:p="http://schemas.openxmlformats.org/presentationml/2006/main" showMasterSp="0" preserve="1">
  <p:cSld name="自定义版式">
    <p:bg>
      <p:bgPr>
        <a:solidFill xmlns:a="http://schemas.openxmlformats.org/drawingml/2006/main">
          <a:srgbClr val="FFFFFF"/>
        </a:solidFill>
      </p:bgPr>
    </p:bg>
    <p:spTree>
      <p:nvGrpSpPr>
        <p:cNvPr id="1" name=""/>
        <p:cNvGrpSpPr/>
        <p:nvPr/>
      </p:nvGrpSpPr>
      <p:grpSpPr>
        <a:xfrm xmlns:a="http://schemas.openxmlformats.org/drawingml/2006/main">
          <a:off x="0" y="0"/>
          <a:ext cx="0" cy="0"/>
          <a:chOff x="0" y="0"/>
          <a:chExt cx="0" cy="0"/>
        </a:xfrm>
      </p:grpSpPr>
      <p:pic>
        <p:nvPicPr>
          <p:cNvPr id="57" name="图片" descr="aiori_logo.png"/>
          <p:cNvPicPr>
            <a:picLocks xmlns:a="http://schemas.openxmlformats.org/drawingml/2006/main" noChangeAspect="1"/>
          </p:cNvPicPr>
          <p:nvPr/>
        </p:nvPicPr>
        <p:blipFill>
          <a:blip xmlns:a="http://schemas.openxmlformats.org/drawingml/2006/main" xmlns:r="http://schemas.openxmlformats.org/officeDocument/2006/relationships" r:embed="rId2" cstate="print"/>
          <a:stretch xmlns:a="http://schemas.openxmlformats.org/drawingml/2006/main">
            <a:fillRect/>
          </a:stretch>
        </p:blipFill>
        <p:spPr>
          <a:xfrm xmlns:a="http://schemas.openxmlformats.org/drawingml/2006/main" rot="0">
            <a:off x="8321040" y="91440"/>
            <a:ext cx="365759" cy="365760"/>
          </a:xfrm>
          <a:prstGeom xmlns:a="http://schemas.openxmlformats.org/drawingml/2006/main" prst="rect"/>
          <a:noFill xmlns:a="http://schemas.openxmlformats.org/drawingml/2006/main"/>
          <a:ln xmlns:a="http://schemas.openxmlformats.org/drawingml/2006/main" w="12700" cmpd="sng" cap="flat">
            <a:noFill/>
            <a:prstDash val="solid"/>
            <a:miter/>
          </a:ln>
        </p:spPr>
      </p:pic>
      <p:sp>
        <p:nvSpPr>
          <p:cNvPr id="58" name="矩形"/>
          <p:cNvSpPr>
            <a:spLocks xmlns:a="http://schemas.openxmlformats.org/drawingml/2006/main"/>
          </p:cNvSpPr>
          <p:nvPr/>
        </p:nvSpPr>
        <p:spPr>
          <a:xfrm xmlns:a="http://schemas.openxmlformats.org/drawingml/2006/main" rot="0">
            <a:off x="457200" y="4773168"/>
            <a:ext cx="6858000" cy="2286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Team PS-010  ·  Evidence-Based IP Network-Type Classification  ·  October 14, 2026</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59" name="矩形"/>
          <p:cNvSpPr>
            <a:spLocks xmlns:a="http://schemas.openxmlformats.org/drawingml/2006/main"/>
          </p:cNvSpPr>
          <p:nvPr/>
        </p:nvSpPr>
        <p:spPr>
          <a:xfrm xmlns:a="http://schemas.openxmlformats.org/drawingml/2006/main" rot="0">
            <a:off x="8412480" y="4773168"/>
            <a:ext cx="365759" cy="2286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ctr" anchorCtr="0">
            <a:prstTxWarp prst="textNoShape"/>
          </a:bodyPr>
          <a:lstStyle xmlns:a="http://schemas.openxmlformats.org/drawingml/2006/main"/>
          <a:p xmlns:a="http://schemas.openxmlformats.org/drawingml/2006/main">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 11</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60" name="文本框"/>
          <p:cNvSpPr>
            <a:spLocks xmlns:a="http://schemas.openxmlformats.org/drawingml/2006/main" noGrp="1"/>
          </p:cNvSpPr>
          <p:nvPr>
            <p:ph type="title"/>
          </p:nvPr>
        </p:nvSpPr>
        <p:spPr>
          <a:xfrm xmlns:a="http://schemas.openxmlformats.org/drawingml/2006/main" rot="0">
            <a:off x="457200" y="365760"/>
            <a:ext cx="7772400" cy="59436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91440" tIns="45720" rIns="91440" bIns="45720" anchor="t" anchorCtr="0">
            <a:prstTxWarp prst="textNoShape"/>
          </a:bodyPr>
          <a:lstStyle xmlns:a="http://schemas.openxmlformats.org/drawingml/2006/main"/>
          <a:p xmlns:a="http://schemas.openxmlformats.org/drawingml/2006/main">
            <a:pPr marL="0" indent="0" algn="l"/>
            <a:endParaRPr lang="zh-CN" altLang="en-US" sz="3200" b="1">
              <a:solidFill>
                <a:schemeClr val="accent1"/>
              </a:solidFill>
            </a:endParaRPr>
          </a:p>
        </p:txBody>
      </p:sp>
      <p:sp>
        <p:nvSpPr>
          <p:cNvPr id="61" name="文本框"/>
          <p:cNvSpPr>
            <a:spLocks xmlns:a="http://schemas.openxmlformats.org/drawingml/2006/main" noGrp="1"/>
          </p:cNvSpPr>
          <p:nvPr>
            <p:ph type="sldNum"/>
          </p:nvPr>
        </p:nvSpPr>
        <p:spPr>
          <a:xfrm xmlns:a="http://schemas.openxmlformats.org/drawingml/2006/main" rot="0">
            <a:off x="7955280" y="4773168"/>
            <a:ext cx="411480" cy="228600"/>
          </a:xfrm>
          <a:prstGeom xmlns:a="http://schemas.openxmlformats.org/drawingml/2006/main" prst="rect"/>
          <a:noFill xmlns:a="http://schemas.openxmlformats.org/drawingml/2006/main"/>
          <a:ln xmlns:a="http://schemas.openxmlformats.org/drawingml/2006/main" w="12700" cmpd="sng" cap="flat">
            <a:noFill/>
            <a:prstDash val="solid"/>
            <a:miter/>
          </a:ln>
        </p:spPr>
        <p:txBody>
          <a:bodyPr xmlns:a="http://schemas.openxmlformats.org/drawingml/2006/main" vert="horz" wrap="square" lIns="0" tIns="0" rIns="0" bIns="0" anchor="t" anchorCtr="0">
            <a:prstTxWarp prst="textNoShape"/>
          </a:bodyPr>
          <a:lstStyle xmlns:a="http://schemas.openxmlformats.org/drawingml/2006/main"/>
          <a:p xmlns:a="http://schemas.openxmlformats.org/drawingml/2006/main">
            <a:pPr algn="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&lt;#&gt;</a:t>
            </a:fld>
            <a:endParaRPr lang="zh-CN" altLang="en-US" sz="100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839546364"/>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文本框"/>
          <p:cNvSpPr>
            <a:spLocks noGrp="1"/>
          </p:cNvSpPr>
          <p:nvPr>
            <p:ph type="sldNum"/>
          </p:nvPr>
        </p:nvSpPr>
        <p:spPr>
          <a:xfrm rot="0">
            <a:off x="7955280" y="4773168"/>
            <a:ext cx="411480" cy="228600"/>
          </a:xfrm>
          <a:prstGeom prst="rect"/>
          <a:noFill/>
          <a:ln w="12700" cmpd="sng" cap="flat">
            <a:noFill/>
            <a:prstDash val="solid"/>
            <a:miter/>
          </a:ln>
        </p:spPr>
        <p:txBody>
          <a:bodyPr vert="horz" wrap="square" lIns="0" tIns="0" rIns="0" bIns="0" anchor="t" anchorCtr="0">
            <a:prstTxWarp prst="textNoShape"/>
          </a:bodyPr>
          <a:lstStyle/>
          <a:p>
            <a:pPr algn="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&lt;#&gt;</a:t>
            </a:fld>
            <a:endParaRPr lang="zh-CN" altLang="en-US" sz="100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90553366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lvl1pPr algn="ctr" defTabSz="914400" eaLnBrk="1" fontAlgn="auto" latinLnBrk="0" hangingPunct="1">
        <a:spcBef>
          <a:spcPts val="0"/>
        </a:spcBef>
        <a:buNone/>
        <a:defRPr sz="4400" kern="1200">
          <a:solidFill>
            <a:schemeClr val="tx1"/>
          </a:solidFill>
          <a:latin typeface="Calibri" pitchFamily="0" charset="0"/>
          <a:ea typeface="等线 Light" pitchFamily="0" charset="0"/>
          <a:cs typeface="Calibri"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image" Target="../media/4.png"/><Relationship Id="rId3" Type="http://schemas.openxmlformats.org/officeDocument/2006/relationships/image" Target="../media/5.png"/><Relationship Id="rId4" Type="http://schemas.openxmlformats.org/officeDocument/2006/relationships/image" Target="../media/6.png"/><Relationship Id="rId5" Type="http://schemas.openxmlformats.org/officeDocument/2006/relationships/image" Target="../media/7.png"/><Relationship Id="rId6" Type="http://schemas.openxmlformats.org/officeDocument/2006/relationships/image" Target="../media/8.png"/><Relationship Id="rId7" Type="http://schemas.openxmlformats.org/officeDocument/2006/relationships/image" Target="../media/9.png"/><Relationship Id="rId8" Type="http://schemas.openxmlformats.org/officeDocument/2006/relationships/slideLayout" Target="../slideLayouts/slideLayout1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image" Target="../media/11.png"/><Relationship Id="rId3" Type="http://schemas.openxmlformats.org/officeDocument/2006/relationships/image" Target="../media/12.png"/><Relationship Id="rId4" Type="http://schemas.openxmlformats.org/officeDocument/2006/relationships/image" Target="../media/13.png"/><Relationship Id="rId5" Type="http://schemas.openxmlformats.org/officeDocument/2006/relationships/image" Target="../media/14.png"/><Relationship Id="rId6" Type="http://schemas.openxmlformats.org/officeDocument/2006/relationships/image" Target="../media/15.png"/><Relationship Id="rId7" Type="http://schemas.openxmlformats.org/officeDocument/2006/relationships/slideLayout" Target="../slideLayouts/slideLayout1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image" Target="../media/17.png"/><Relationship Id="rId3" Type="http://schemas.openxmlformats.org/officeDocument/2006/relationships/image" Target="../media/18.png"/><Relationship Id="rId4" Type="http://schemas.openxmlformats.org/officeDocument/2006/relationships/image" Target="../media/19.png"/><Relationship Id="rId5" Type="http://schemas.openxmlformats.org/officeDocument/2006/relationships/image" Target="../media/20.png"/><Relationship Id="rId6" Type="http://schemas.openxmlformats.org/officeDocument/2006/relationships/slideLayout" Target="../slideLayouts/slideLayout1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21.png"/><Relationship Id="rId2" Type="http://schemas.openxmlformats.org/officeDocument/2006/relationships/image" Target="../media/22.png"/><Relationship Id="rId3" Type="http://schemas.openxmlformats.org/officeDocument/2006/relationships/slideLayout" Target="../slideLayouts/slideLayout12.xml"/><Relationship Id="rId4" Type="http://schemas.openxmlformats.org/officeDocument/2006/relationships/notesSlide" Target="../notesSlides/notesSlide10.xml"/></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0A1F6B"/>
        </a:solidFill>
      </p:bgPr>
    </p:bg>
    <p:spTree>
      <p:nvGrpSpPr>
        <p:cNvPr id="1" name=""/>
        <p:cNvGrpSpPr/>
        <p:nvPr/>
      </p:nvGrpSpPr>
      <p:grpSpPr>
        <a:xfrm>
          <a:off x="0" y="0"/>
          <a:ext cx="0" cy="0"/>
          <a:chOff x="0" y="0"/>
          <a:chExt cx="0" cy="0"/>
        </a:xfrm>
      </p:grpSpPr>
      <p:sp>
        <p:nvSpPr>
          <p:cNvPr id="10" name="椭圆"/>
          <p:cNvSpPr>
            <a:spLocks/>
          </p:cNvSpPr>
          <p:nvPr/>
        </p:nvSpPr>
        <p:spPr>
          <a:xfrm rot="0">
            <a:off x="502919" y="365760"/>
            <a:ext cx="731520" cy="731519"/>
          </a:xfrm>
          <a:prstGeom prst="ellipse"/>
          <a:solidFill>
            <a:schemeClr val="bg1"/>
          </a:solidFill>
          <a:ln w="6350" cmpd="sng" cap="flat">
            <a:solidFill>
              <a:srgbClr val="FFFFFF"/>
            </a:solidFill>
            <a:prstDash val="solid"/>
            <a:round/>
          </a:ln>
        </p:spPr>
      </p:sp>
      <p:pic>
        <p:nvPicPr>
          <p:cNvPr id="11" name="图片" descr="aiori_logo.png"/>
          <p:cNvPicPr>
            <a:picLocks noChangeAspect="1"/>
          </p:cNvPicPr>
          <p:nvPr/>
        </p:nvPicPr>
        <p:blipFill>
          <a:blip r:embed="rId1" cstate="print"/>
          <a:stretch>
            <a:fillRect/>
          </a:stretch>
        </p:blipFill>
        <p:spPr>
          <a:xfrm rot="0">
            <a:off x="557784" y="420624"/>
            <a:ext cx="621791" cy="617220"/>
          </a:xfrm>
          <a:prstGeom prst="rect"/>
          <a:noFill/>
          <a:ln w="12700" cmpd="sng" cap="flat">
            <a:noFill/>
            <a:prstDash val="solid"/>
            <a:miter/>
          </a:ln>
        </p:spPr>
      </p:pic>
      <p:sp>
        <p:nvSpPr>
          <p:cNvPr id="12" name="矩形"/>
          <p:cNvSpPr>
            <a:spLocks/>
          </p:cNvSpPr>
          <p:nvPr/>
        </p:nvSpPr>
        <p:spPr>
          <a:xfrm rot="0">
            <a:off x="1371600" y="475487"/>
            <a:ext cx="3657600" cy="27431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0" cap="none" spc="300" baseline="0">
                <a:solidFill>
                  <a:schemeClr val="accent2"/>
                </a:solidFill>
                <a:latin typeface="Calibri" pitchFamily="0" charset="0"/>
                <a:ea typeface="等线" pitchFamily="0" charset="0"/>
                <a:cs typeface="Calibri" pitchFamily="0" charset="0"/>
              </a:rPr>
              <a:t>AIORI HACKATHON 3</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 name="矩形"/>
          <p:cNvSpPr>
            <a:spLocks/>
          </p:cNvSpPr>
          <p:nvPr/>
        </p:nvSpPr>
        <p:spPr>
          <a:xfrm rot="0">
            <a:off x="1371600" y="749808"/>
            <a:ext cx="2743200" cy="32004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2000" b="1" i="0" u="none" strike="noStrike" kern="1200" cap="none" spc="0" baseline="0">
                <a:solidFill>
                  <a:schemeClr val="bg1"/>
                </a:solidFill>
                <a:latin typeface="Calibri" pitchFamily="0" charset="0"/>
                <a:ea typeface="等线" pitchFamily="0" charset="0"/>
                <a:cs typeface="Calibri" pitchFamily="0" charset="0"/>
              </a:rPr>
              <a:t>PS-010</a:t>
            </a:r>
            <a:endParaRPr lang="zh-CN" altLang="en-US" sz="2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 name="文本框"/>
          <p:cNvSpPr>
            <a:spLocks noGrp="1"/>
          </p:cNvSpPr>
          <p:nvPr>
            <p:ph type="title"/>
          </p:nvPr>
        </p:nvSpPr>
        <p:spPr>
          <a:xfrm rot="0">
            <a:off x="548640" y="1417320"/>
            <a:ext cx="5394960" cy="17373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3800" b="1" i="0" u="none" strike="noStrike" kern="1200" cap="none" spc="0" baseline="0">
                <a:solidFill>
                  <a:schemeClr val="bg1"/>
                </a:solidFill>
                <a:latin typeface="Calibri" pitchFamily="0" charset="0"/>
                <a:ea typeface="等线 Light" pitchFamily="0" charset="0"/>
                <a:cs typeface="Lucida Sans"/>
              </a:rPr>
              <a:t>Evidence-Based IP Network-Type Classification</a:t>
            </a:r>
            <a:endParaRPr lang="zh-CN" altLang="en-US" sz="3800" b="1" i="0" u="none" strike="noStrike" kern="1200" cap="none" spc="0" baseline="0">
              <a:solidFill>
                <a:schemeClr val="bg1"/>
              </a:solidFill>
              <a:latin typeface="Calibri" pitchFamily="0" charset="0"/>
              <a:ea typeface="等线 Light" pitchFamily="0" charset="0"/>
              <a:cs typeface="Lucida Sans"/>
            </a:endParaRPr>
          </a:p>
        </p:txBody>
      </p:sp>
      <p:sp>
        <p:nvSpPr>
          <p:cNvPr id="15" name="矩形"/>
          <p:cNvSpPr>
            <a:spLocks/>
          </p:cNvSpPr>
          <p:nvPr/>
        </p:nvSpPr>
        <p:spPr>
          <a:xfrm rot="0">
            <a:off x="548640" y="3200400"/>
            <a:ext cx="5394960" cy="3657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600" b="0" i="1" u="none" strike="noStrike" kern="1200" cap="none" spc="0" baseline="0">
                <a:solidFill>
                  <a:schemeClr val="accent4"/>
                </a:solidFill>
                <a:latin typeface="Calibri" pitchFamily="0" charset="0"/>
                <a:ea typeface="等线" pitchFamily="0" charset="0"/>
                <a:cs typeface="Calibri" pitchFamily="0" charset="0"/>
              </a:rPr>
              <a:t>Turning network data into evidence-based intelligence.</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 name="矩形"/>
          <p:cNvSpPr>
            <a:spLocks/>
          </p:cNvSpPr>
          <p:nvPr/>
        </p:nvSpPr>
        <p:spPr>
          <a:xfrm rot="0">
            <a:off x="548640" y="3840480"/>
            <a:ext cx="5669280" cy="5029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40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Team Member 1</a:t>
            </a:r>
            <a:r>
              <a:rPr lang="en-US" altLang="zh-CN" sz="1200" b="0" i="0" u="none" strike="noStrike" kern="1200" cap="none" spc="0" baseline="0">
                <a:solidFill>
                  <a:schemeClr val="bg1"/>
                </a:solidFill>
                <a:latin typeface="Calibri" pitchFamily="0" charset="0"/>
                <a:ea typeface="等线" pitchFamily="0" charset="0"/>
                <a:cs typeface="Calibri" pitchFamily="0" charset="0"/>
              </a:rPr>
              <a:t> —</a:t>
            </a:r>
            <a:r>
              <a:rPr lang="en-US" altLang="zh-CN" sz="1200" b="0" i="0" u="none" strike="noStrike" kern="1200" cap="none" spc="0" baseline="0">
                <a:solidFill>
                  <a:schemeClr val="bg1"/>
                </a:solidFill>
                <a:latin typeface="Calibri" pitchFamily="0" charset="0"/>
                <a:ea typeface="等线" pitchFamily="0" charset="0"/>
                <a:cs typeface="Calibri" pitchFamily="0" charset="0"/>
              </a:rPr>
              <a:t> Ameen Ahmed Jaffer</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Team Member 2</a:t>
            </a:r>
            <a:r>
              <a:rPr lang="en-US" altLang="zh-CN" sz="1200" b="0" i="0" u="none" strike="noStrike" kern="1200" cap="none" spc="0" baseline="0">
                <a:solidFill>
                  <a:schemeClr val="bg1"/>
                </a:solidFill>
                <a:latin typeface="Calibri" pitchFamily="0" charset="0"/>
                <a:ea typeface="等线" pitchFamily="0" charset="0"/>
                <a:cs typeface="Calibri" pitchFamily="0" charset="0"/>
              </a:rPr>
              <a:t> — </a:t>
            </a:r>
            <a:r>
              <a:rPr lang="en-US" altLang="zh-CN" sz="1200" b="0" i="0" u="none" strike="noStrike" kern="1200" cap="none" spc="0" baseline="0">
                <a:solidFill>
                  <a:schemeClr val="bg1"/>
                </a:solidFill>
                <a:latin typeface="Calibri" pitchFamily="0" charset="0"/>
                <a:ea typeface="等线" pitchFamily="0" charset="0"/>
                <a:cs typeface="Calibri" pitchFamily="0" charset="0"/>
              </a:rPr>
              <a:t>Askari Imam</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 name="矩形"/>
          <p:cNvSpPr>
            <a:spLocks/>
          </p:cNvSpPr>
          <p:nvPr/>
        </p:nvSpPr>
        <p:spPr>
          <a:xfrm rot="0">
            <a:off x="548640" y="4526280"/>
            <a:ext cx="6858000" cy="2286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accent4"/>
                </a:solidFill>
                <a:latin typeface="Calibri" pitchFamily="0" charset="0"/>
                <a:ea typeface="等线" pitchFamily="0" charset="0"/>
                <a:cs typeface="Calibri" pitchFamily="0" charset="0"/>
              </a:rPr>
              <a:t>October 14, 2026   ·   Artificial Intelligence, Machine Learning and Network Intelligence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 name="直线"/>
          <p:cNvSpPr>
            <a:spLocks/>
          </p:cNvSpPr>
          <p:nvPr/>
        </p:nvSpPr>
        <p:spPr>
          <a:xfrm flipV="1" rot="0">
            <a:off x="6327647" y="786384"/>
            <a:ext cx="804672" cy="201168"/>
          </a:xfrm>
          <a:prstGeom prst="line"/>
          <a:noFill/>
          <a:ln w="15875" cmpd="sng" cap="flat">
            <a:solidFill>
              <a:srgbClr val="7C93F5">
                <a:alpha val="60000"/>
              </a:srgbClr>
            </a:solidFill>
            <a:prstDash val="solid"/>
            <a:round/>
          </a:ln>
        </p:spPr>
      </p:sp>
      <p:sp>
        <p:nvSpPr>
          <p:cNvPr id="19" name="直线"/>
          <p:cNvSpPr>
            <a:spLocks/>
          </p:cNvSpPr>
          <p:nvPr/>
        </p:nvSpPr>
        <p:spPr>
          <a:xfrm rot="0">
            <a:off x="7132320" y="786384"/>
            <a:ext cx="905256" cy="352044"/>
          </a:xfrm>
          <a:prstGeom prst="line"/>
          <a:noFill/>
          <a:ln w="15875" cmpd="sng" cap="flat">
            <a:solidFill>
              <a:srgbClr val="7C93F5">
                <a:alpha val="60000"/>
              </a:srgbClr>
            </a:solidFill>
            <a:prstDash val="solid"/>
            <a:round/>
          </a:ln>
        </p:spPr>
      </p:sp>
      <p:sp>
        <p:nvSpPr>
          <p:cNvPr id="20" name="直线"/>
          <p:cNvSpPr>
            <a:spLocks/>
          </p:cNvSpPr>
          <p:nvPr/>
        </p:nvSpPr>
        <p:spPr>
          <a:xfrm rot="0">
            <a:off x="6327647" y="987551"/>
            <a:ext cx="402336" cy="804672"/>
          </a:xfrm>
          <a:prstGeom prst="line"/>
          <a:noFill/>
          <a:ln w="15875" cmpd="sng" cap="flat">
            <a:solidFill>
              <a:srgbClr val="7C93F5">
                <a:alpha val="60000"/>
              </a:srgbClr>
            </a:solidFill>
            <a:prstDash val="solid"/>
            <a:round/>
          </a:ln>
        </p:spPr>
      </p:sp>
      <p:sp>
        <p:nvSpPr>
          <p:cNvPr id="21" name="直线"/>
          <p:cNvSpPr>
            <a:spLocks/>
          </p:cNvSpPr>
          <p:nvPr/>
        </p:nvSpPr>
        <p:spPr>
          <a:xfrm rot="0">
            <a:off x="7132320" y="786384"/>
            <a:ext cx="502919" cy="1106423"/>
          </a:xfrm>
          <a:prstGeom prst="line"/>
          <a:noFill/>
          <a:ln w="15875" cmpd="sng" cap="flat">
            <a:solidFill>
              <a:srgbClr val="7C93F5">
                <a:alpha val="60000"/>
              </a:srgbClr>
            </a:solidFill>
            <a:prstDash val="solid"/>
            <a:round/>
          </a:ln>
        </p:spPr>
      </p:sp>
      <p:sp>
        <p:nvSpPr>
          <p:cNvPr id="22" name="直线"/>
          <p:cNvSpPr>
            <a:spLocks/>
          </p:cNvSpPr>
          <p:nvPr/>
        </p:nvSpPr>
        <p:spPr>
          <a:xfrm rot="0">
            <a:off x="8037576" y="1138428"/>
            <a:ext cx="502919" cy="553212"/>
          </a:xfrm>
          <a:prstGeom prst="line"/>
          <a:noFill/>
          <a:ln w="15875" cmpd="sng" cap="flat">
            <a:solidFill>
              <a:srgbClr val="7C93F5">
                <a:alpha val="60000"/>
              </a:srgbClr>
            </a:solidFill>
            <a:prstDash val="solid"/>
            <a:round/>
          </a:ln>
        </p:spPr>
      </p:sp>
      <p:sp>
        <p:nvSpPr>
          <p:cNvPr id="23" name="直线"/>
          <p:cNvSpPr>
            <a:spLocks/>
          </p:cNvSpPr>
          <p:nvPr/>
        </p:nvSpPr>
        <p:spPr>
          <a:xfrm rot="0">
            <a:off x="6729984" y="1792224"/>
            <a:ext cx="905256" cy="100584"/>
          </a:xfrm>
          <a:prstGeom prst="line"/>
          <a:noFill/>
          <a:ln w="15875" cmpd="sng" cap="flat">
            <a:solidFill>
              <a:srgbClr val="7C93F5">
                <a:alpha val="60000"/>
              </a:srgbClr>
            </a:solidFill>
            <a:prstDash val="solid"/>
            <a:round/>
          </a:ln>
        </p:spPr>
      </p:sp>
      <p:sp>
        <p:nvSpPr>
          <p:cNvPr id="24" name="直线"/>
          <p:cNvSpPr>
            <a:spLocks/>
          </p:cNvSpPr>
          <p:nvPr/>
        </p:nvSpPr>
        <p:spPr>
          <a:xfrm flipV="1" rot="0">
            <a:off x="7635240" y="1691639"/>
            <a:ext cx="905256" cy="201168"/>
          </a:xfrm>
          <a:prstGeom prst="line"/>
          <a:noFill/>
          <a:ln w="15875" cmpd="sng" cap="flat">
            <a:solidFill>
              <a:srgbClr val="7C93F5">
                <a:alpha val="60000"/>
              </a:srgbClr>
            </a:solidFill>
            <a:prstDash val="solid"/>
            <a:round/>
          </a:ln>
        </p:spPr>
      </p:sp>
      <p:sp>
        <p:nvSpPr>
          <p:cNvPr id="25" name="直线"/>
          <p:cNvSpPr>
            <a:spLocks/>
          </p:cNvSpPr>
          <p:nvPr/>
        </p:nvSpPr>
        <p:spPr>
          <a:xfrm flipV="1" rot="0">
            <a:off x="6227064" y="1792224"/>
            <a:ext cx="502919" cy="804672"/>
          </a:xfrm>
          <a:prstGeom prst="line"/>
          <a:noFill/>
          <a:ln w="15875" cmpd="sng" cap="flat">
            <a:solidFill>
              <a:srgbClr val="7C93F5">
                <a:alpha val="60000"/>
              </a:srgbClr>
            </a:solidFill>
            <a:prstDash val="solid"/>
            <a:round/>
          </a:ln>
        </p:spPr>
      </p:sp>
      <p:sp>
        <p:nvSpPr>
          <p:cNvPr id="26" name="直线"/>
          <p:cNvSpPr>
            <a:spLocks/>
          </p:cNvSpPr>
          <p:nvPr/>
        </p:nvSpPr>
        <p:spPr>
          <a:xfrm rot="0">
            <a:off x="6729984" y="1792224"/>
            <a:ext cx="502919" cy="1005839"/>
          </a:xfrm>
          <a:prstGeom prst="line"/>
          <a:noFill/>
          <a:ln w="15875" cmpd="sng" cap="flat">
            <a:solidFill>
              <a:srgbClr val="7C93F5">
                <a:alpha val="60000"/>
              </a:srgbClr>
            </a:solidFill>
            <a:prstDash val="solid"/>
            <a:round/>
          </a:ln>
        </p:spPr>
      </p:sp>
      <p:sp>
        <p:nvSpPr>
          <p:cNvPr id="27" name="直线"/>
          <p:cNvSpPr>
            <a:spLocks/>
          </p:cNvSpPr>
          <p:nvPr/>
        </p:nvSpPr>
        <p:spPr>
          <a:xfrm flipV="1" rot="0">
            <a:off x="7232904" y="1892808"/>
            <a:ext cx="402336" cy="905256"/>
          </a:xfrm>
          <a:prstGeom prst="line"/>
          <a:noFill/>
          <a:ln w="15875" cmpd="sng" cap="flat">
            <a:solidFill>
              <a:srgbClr val="7C93F5">
                <a:alpha val="60000"/>
              </a:srgbClr>
            </a:solidFill>
            <a:prstDash val="solid"/>
            <a:round/>
          </a:ln>
        </p:spPr>
      </p:sp>
      <p:sp>
        <p:nvSpPr>
          <p:cNvPr id="28" name="直线"/>
          <p:cNvSpPr>
            <a:spLocks/>
          </p:cNvSpPr>
          <p:nvPr/>
        </p:nvSpPr>
        <p:spPr>
          <a:xfrm rot="0">
            <a:off x="7635240" y="1892808"/>
            <a:ext cx="502919" cy="804672"/>
          </a:xfrm>
          <a:prstGeom prst="line"/>
          <a:noFill/>
          <a:ln w="15875" cmpd="sng" cap="flat">
            <a:solidFill>
              <a:srgbClr val="7C93F5">
                <a:alpha val="60000"/>
              </a:srgbClr>
            </a:solidFill>
            <a:prstDash val="solid"/>
            <a:round/>
          </a:ln>
        </p:spPr>
      </p:sp>
      <p:sp>
        <p:nvSpPr>
          <p:cNvPr id="29" name="直线"/>
          <p:cNvSpPr>
            <a:spLocks/>
          </p:cNvSpPr>
          <p:nvPr/>
        </p:nvSpPr>
        <p:spPr>
          <a:xfrm rot="0">
            <a:off x="8540496" y="1691639"/>
            <a:ext cx="301751" cy="754379"/>
          </a:xfrm>
          <a:prstGeom prst="line"/>
          <a:noFill/>
          <a:ln w="15875" cmpd="sng" cap="flat">
            <a:solidFill>
              <a:srgbClr val="7C93F5">
                <a:alpha val="60000"/>
              </a:srgbClr>
            </a:solidFill>
            <a:prstDash val="solid"/>
            <a:round/>
          </a:ln>
        </p:spPr>
      </p:sp>
      <p:sp>
        <p:nvSpPr>
          <p:cNvPr id="30" name="直线"/>
          <p:cNvSpPr>
            <a:spLocks/>
          </p:cNvSpPr>
          <p:nvPr/>
        </p:nvSpPr>
        <p:spPr>
          <a:xfrm flipV="1" rot="0">
            <a:off x="8138160" y="2446020"/>
            <a:ext cx="704088" cy="251459"/>
          </a:xfrm>
          <a:prstGeom prst="line"/>
          <a:noFill/>
          <a:ln w="15875" cmpd="sng" cap="flat">
            <a:solidFill>
              <a:srgbClr val="7C93F5">
                <a:alpha val="60000"/>
              </a:srgbClr>
            </a:solidFill>
            <a:prstDash val="solid"/>
            <a:round/>
          </a:ln>
        </p:spPr>
      </p:sp>
      <p:sp>
        <p:nvSpPr>
          <p:cNvPr id="31" name="直线"/>
          <p:cNvSpPr>
            <a:spLocks/>
          </p:cNvSpPr>
          <p:nvPr/>
        </p:nvSpPr>
        <p:spPr>
          <a:xfrm flipV="1" rot="0">
            <a:off x="7232904" y="2697480"/>
            <a:ext cx="905256" cy="100583"/>
          </a:xfrm>
          <a:prstGeom prst="line"/>
          <a:noFill/>
          <a:ln w="15875" cmpd="sng" cap="flat">
            <a:solidFill>
              <a:srgbClr val="7C93F5">
                <a:alpha val="60000"/>
              </a:srgbClr>
            </a:solidFill>
            <a:prstDash val="solid"/>
            <a:round/>
          </a:ln>
        </p:spPr>
      </p:sp>
      <p:sp>
        <p:nvSpPr>
          <p:cNvPr id="32" name="直线"/>
          <p:cNvSpPr>
            <a:spLocks/>
          </p:cNvSpPr>
          <p:nvPr/>
        </p:nvSpPr>
        <p:spPr>
          <a:xfrm flipV="1" rot="0">
            <a:off x="7635240" y="1138428"/>
            <a:ext cx="402336" cy="754379"/>
          </a:xfrm>
          <a:prstGeom prst="line"/>
          <a:noFill/>
          <a:ln w="15875" cmpd="sng" cap="flat">
            <a:solidFill>
              <a:srgbClr val="7C93F5">
                <a:alpha val="60000"/>
              </a:srgbClr>
            </a:solidFill>
            <a:prstDash val="solid"/>
            <a:round/>
          </a:ln>
        </p:spPr>
      </p:sp>
      <p:sp>
        <p:nvSpPr>
          <p:cNvPr id="33" name="椭圆"/>
          <p:cNvSpPr>
            <a:spLocks/>
          </p:cNvSpPr>
          <p:nvPr/>
        </p:nvSpPr>
        <p:spPr>
          <a:xfrm rot="0">
            <a:off x="6236208" y="896112"/>
            <a:ext cx="182880" cy="182880"/>
          </a:xfrm>
          <a:prstGeom prst="ellipse"/>
          <a:solidFill>
            <a:schemeClr val="accent4"/>
          </a:solidFill>
          <a:ln w="6350" cmpd="sng" cap="flat">
            <a:solidFill>
              <a:srgbClr val="7C93F5"/>
            </a:solidFill>
            <a:prstDash val="solid"/>
            <a:round/>
          </a:ln>
        </p:spPr>
      </p:sp>
      <p:sp>
        <p:nvSpPr>
          <p:cNvPr id="34" name="椭圆"/>
          <p:cNvSpPr>
            <a:spLocks/>
          </p:cNvSpPr>
          <p:nvPr/>
        </p:nvSpPr>
        <p:spPr>
          <a:xfrm rot="0">
            <a:off x="7068312" y="722376"/>
            <a:ext cx="128015" cy="128015"/>
          </a:xfrm>
          <a:prstGeom prst="ellipse"/>
          <a:solidFill>
            <a:schemeClr val="accent4"/>
          </a:solidFill>
          <a:ln w="6350" cmpd="sng" cap="flat">
            <a:solidFill>
              <a:srgbClr val="7C93F5"/>
            </a:solidFill>
            <a:prstDash val="solid"/>
            <a:round/>
          </a:ln>
        </p:spPr>
      </p:sp>
      <p:sp>
        <p:nvSpPr>
          <p:cNvPr id="35" name="椭圆"/>
          <p:cNvSpPr>
            <a:spLocks/>
          </p:cNvSpPr>
          <p:nvPr/>
        </p:nvSpPr>
        <p:spPr>
          <a:xfrm rot="0">
            <a:off x="7973568" y="1074420"/>
            <a:ext cx="128015" cy="128016"/>
          </a:xfrm>
          <a:prstGeom prst="ellipse"/>
          <a:solidFill>
            <a:schemeClr val="accent4"/>
          </a:solidFill>
          <a:ln w="6350" cmpd="sng" cap="flat">
            <a:solidFill>
              <a:srgbClr val="7C93F5"/>
            </a:solidFill>
            <a:prstDash val="solid"/>
            <a:round/>
          </a:ln>
        </p:spPr>
      </p:sp>
      <p:sp>
        <p:nvSpPr>
          <p:cNvPr id="36" name="椭圆"/>
          <p:cNvSpPr>
            <a:spLocks/>
          </p:cNvSpPr>
          <p:nvPr/>
        </p:nvSpPr>
        <p:spPr>
          <a:xfrm rot="0">
            <a:off x="6638544" y="1700784"/>
            <a:ext cx="182880" cy="182879"/>
          </a:xfrm>
          <a:prstGeom prst="ellipse"/>
          <a:solidFill>
            <a:schemeClr val="accent4"/>
          </a:solidFill>
          <a:ln w="6350" cmpd="sng" cap="flat">
            <a:solidFill>
              <a:srgbClr val="7C93F5"/>
            </a:solidFill>
            <a:prstDash val="solid"/>
            <a:round/>
          </a:ln>
        </p:spPr>
      </p:sp>
      <p:sp>
        <p:nvSpPr>
          <p:cNvPr id="37" name="椭圆"/>
          <p:cNvSpPr>
            <a:spLocks/>
          </p:cNvSpPr>
          <p:nvPr/>
        </p:nvSpPr>
        <p:spPr>
          <a:xfrm rot="0">
            <a:off x="7571232" y="1828800"/>
            <a:ext cx="128015" cy="128015"/>
          </a:xfrm>
          <a:prstGeom prst="ellipse"/>
          <a:solidFill>
            <a:schemeClr val="accent2"/>
          </a:solidFill>
          <a:ln w="6350" cmpd="sng" cap="flat">
            <a:solidFill>
              <a:srgbClr val="FF9933"/>
            </a:solidFill>
            <a:prstDash val="solid"/>
            <a:round/>
          </a:ln>
        </p:spPr>
      </p:sp>
      <p:sp>
        <p:nvSpPr>
          <p:cNvPr id="38" name="椭圆"/>
          <p:cNvSpPr>
            <a:spLocks/>
          </p:cNvSpPr>
          <p:nvPr/>
        </p:nvSpPr>
        <p:spPr>
          <a:xfrm rot="0">
            <a:off x="8476488" y="1627632"/>
            <a:ext cx="128015" cy="128015"/>
          </a:xfrm>
          <a:prstGeom prst="ellipse"/>
          <a:solidFill>
            <a:schemeClr val="accent4"/>
          </a:solidFill>
          <a:ln w="6350" cmpd="sng" cap="flat">
            <a:solidFill>
              <a:srgbClr val="7C93F5"/>
            </a:solidFill>
            <a:prstDash val="solid"/>
            <a:round/>
          </a:ln>
        </p:spPr>
      </p:sp>
      <p:sp>
        <p:nvSpPr>
          <p:cNvPr id="39" name="椭圆"/>
          <p:cNvSpPr>
            <a:spLocks/>
          </p:cNvSpPr>
          <p:nvPr/>
        </p:nvSpPr>
        <p:spPr>
          <a:xfrm rot="0">
            <a:off x="6135624" y="2505456"/>
            <a:ext cx="182880" cy="182879"/>
          </a:xfrm>
          <a:prstGeom prst="ellipse"/>
          <a:solidFill>
            <a:schemeClr val="accent4"/>
          </a:solidFill>
          <a:ln w="6350" cmpd="sng" cap="flat">
            <a:solidFill>
              <a:srgbClr val="7C93F5"/>
            </a:solidFill>
            <a:prstDash val="solid"/>
            <a:round/>
          </a:ln>
        </p:spPr>
      </p:sp>
      <p:sp>
        <p:nvSpPr>
          <p:cNvPr id="40" name="椭圆"/>
          <p:cNvSpPr>
            <a:spLocks/>
          </p:cNvSpPr>
          <p:nvPr/>
        </p:nvSpPr>
        <p:spPr>
          <a:xfrm rot="0">
            <a:off x="7168896" y="2734056"/>
            <a:ext cx="128015" cy="128016"/>
          </a:xfrm>
          <a:prstGeom prst="ellipse"/>
          <a:solidFill>
            <a:schemeClr val="accent4"/>
          </a:solidFill>
          <a:ln w="6350" cmpd="sng" cap="flat">
            <a:solidFill>
              <a:srgbClr val="7C93F5"/>
            </a:solidFill>
            <a:prstDash val="solid"/>
            <a:round/>
          </a:ln>
        </p:spPr>
      </p:sp>
      <p:sp>
        <p:nvSpPr>
          <p:cNvPr id="41" name="椭圆"/>
          <p:cNvSpPr>
            <a:spLocks/>
          </p:cNvSpPr>
          <p:nvPr/>
        </p:nvSpPr>
        <p:spPr>
          <a:xfrm rot="0">
            <a:off x="8074152" y="2633472"/>
            <a:ext cx="128015" cy="128016"/>
          </a:xfrm>
          <a:prstGeom prst="ellipse"/>
          <a:solidFill>
            <a:schemeClr val="accent4"/>
          </a:solidFill>
          <a:ln w="6350" cmpd="sng" cap="flat">
            <a:solidFill>
              <a:srgbClr val="7C93F5"/>
            </a:solidFill>
            <a:prstDash val="solid"/>
            <a:round/>
          </a:ln>
        </p:spPr>
      </p:sp>
      <p:sp>
        <p:nvSpPr>
          <p:cNvPr id="42" name="椭圆"/>
          <p:cNvSpPr>
            <a:spLocks/>
          </p:cNvSpPr>
          <p:nvPr/>
        </p:nvSpPr>
        <p:spPr>
          <a:xfrm rot="0">
            <a:off x="8750808" y="2354580"/>
            <a:ext cx="182880" cy="182879"/>
          </a:xfrm>
          <a:prstGeom prst="ellipse"/>
          <a:solidFill>
            <a:schemeClr val="accent4"/>
          </a:solidFill>
          <a:ln w="6350" cmpd="sng" cap="flat">
            <a:solidFill>
              <a:srgbClr val="7C93F5"/>
            </a:solidFill>
            <a:prstDash val="solid"/>
            <a:round/>
          </a:ln>
        </p:spPr>
      </p:sp>
      <p:sp>
        <p:nvSpPr>
          <p:cNvPr id="43" name="圆角矩形"/>
          <p:cNvSpPr>
            <a:spLocks/>
          </p:cNvSpPr>
          <p:nvPr/>
        </p:nvSpPr>
        <p:spPr>
          <a:xfrm rot="0">
            <a:off x="6172200" y="3337560"/>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44" name="矩形"/>
          <p:cNvSpPr>
            <a:spLocks/>
          </p:cNvSpPr>
          <p:nvPr/>
        </p:nvSpPr>
        <p:spPr>
          <a:xfrm rot="0">
            <a:off x="6172200" y="3337560"/>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Residential</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45" name="圆角矩形"/>
          <p:cNvSpPr>
            <a:spLocks/>
          </p:cNvSpPr>
          <p:nvPr/>
        </p:nvSpPr>
        <p:spPr>
          <a:xfrm rot="0">
            <a:off x="7498080" y="3337560"/>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46" name="矩形"/>
          <p:cNvSpPr>
            <a:spLocks/>
          </p:cNvSpPr>
          <p:nvPr/>
        </p:nvSpPr>
        <p:spPr>
          <a:xfrm rot="0">
            <a:off x="7498080" y="3337560"/>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Mobile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47" name="圆角矩形"/>
          <p:cNvSpPr>
            <a:spLocks/>
          </p:cNvSpPr>
          <p:nvPr/>
        </p:nvSpPr>
        <p:spPr>
          <a:xfrm rot="0">
            <a:off x="6172200" y="3721608"/>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48" name="矩形"/>
          <p:cNvSpPr>
            <a:spLocks/>
          </p:cNvSpPr>
          <p:nvPr/>
        </p:nvSpPr>
        <p:spPr>
          <a:xfrm rot="0">
            <a:off x="6172200" y="3721608"/>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Hosting</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49" name="圆角矩形"/>
          <p:cNvSpPr>
            <a:spLocks/>
          </p:cNvSpPr>
          <p:nvPr/>
        </p:nvSpPr>
        <p:spPr>
          <a:xfrm rot="0">
            <a:off x="7498080" y="3721608"/>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50" name="矩形"/>
          <p:cNvSpPr>
            <a:spLocks/>
          </p:cNvSpPr>
          <p:nvPr/>
        </p:nvSpPr>
        <p:spPr>
          <a:xfrm rot="0">
            <a:off x="7498080" y="3721608"/>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VPN / Proxy</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51" name="圆角矩形"/>
          <p:cNvSpPr>
            <a:spLocks/>
          </p:cNvSpPr>
          <p:nvPr/>
        </p:nvSpPr>
        <p:spPr>
          <a:xfrm rot="0">
            <a:off x="6172200" y="4105656"/>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52" name="矩形"/>
          <p:cNvSpPr>
            <a:spLocks/>
          </p:cNvSpPr>
          <p:nvPr/>
        </p:nvSpPr>
        <p:spPr>
          <a:xfrm rot="0">
            <a:off x="6172200" y="4105656"/>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Tor Exit</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53" name="圆角矩形"/>
          <p:cNvSpPr>
            <a:spLocks/>
          </p:cNvSpPr>
          <p:nvPr/>
        </p:nvSpPr>
        <p:spPr>
          <a:xfrm rot="0">
            <a:off x="7498080" y="4105656"/>
            <a:ext cx="1234440" cy="292607"/>
          </a:xfrm>
          <a:prstGeom prst="roundRect">
            <a:avLst>
              <a:gd name="adj" fmla="val 50000"/>
            </a:avLst>
          </a:prstGeom>
          <a:solidFill>
            <a:srgbClr val="FFFFFF">
              <a:alpha val="12000"/>
            </a:srgbClr>
          </a:solidFill>
          <a:ln w="9525" cmpd="sng" cap="flat">
            <a:solidFill>
              <a:srgbClr val="7C93F5"/>
            </a:solidFill>
            <a:prstDash val="solid"/>
            <a:round/>
          </a:ln>
        </p:spPr>
      </p:sp>
      <p:sp>
        <p:nvSpPr>
          <p:cNvPr id="54" name="矩形"/>
          <p:cNvSpPr>
            <a:spLocks/>
          </p:cNvSpPr>
          <p:nvPr/>
        </p:nvSpPr>
        <p:spPr>
          <a:xfrm rot="0">
            <a:off x="7498080" y="4105656"/>
            <a:ext cx="1234440" cy="292607"/>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100" b="0" i="0" u="none" strike="noStrike" kern="1200" cap="none" spc="0" baseline="0">
                <a:solidFill>
                  <a:schemeClr val="bg1"/>
                </a:solidFill>
                <a:latin typeface="Calibri" pitchFamily="0" charset="0"/>
                <a:ea typeface="等线" pitchFamily="0" charset="0"/>
                <a:cs typeface="Calibri" pitchFamily="0" charset="0"/>
              </a:rPr>
              <a:t>Unknown</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797868024"/>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62"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Abstract</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63"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Problem Description</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64" name="圆角矩形"/>
          <p:cNvSpPr>
            <a:spLocks/>
          </p:cNvSpPr>
          <p:nvPr/>
        </p:nvSpPr>
        <p:spPr>
          <a:xfrm rot="0">
            <a:off x="457200" y="1097280"/>
            <a:ext cx="8229600" cy="1005839"/>
          </a:xfrm>
          <a:prstGeom prst="roundRect">
            <a:avLst>
              <a:gd name="adj" fmla="val 7273"/>
            </a:avLst>
          </a:prstGeom>
          <a:solidFill>
            <a:schemeClr val="tx2"/>
          </a:solidFill>
          <a:ln w="6350" cmpd="sng" cap="flat">
            <a:solidFill>
              <a:srgbClr val="0A1F6B"/>
            </a:solidFill>
            <a:prstDash val="solid"/>
            <a:round/>
          </a:ln>
        </p:spPr>
      </p:sp>
      <p:sp>
        <p:nvSpPr>
          <p:cNvPr id="65" name="椭圆"/>
          <p:cNvSpPr>
            <a:spLocks/>
          </p:cNvSpPr>
          <p:nvPr/>
        </p:nvSpPr>
        <p:spPr>
          <a:xfrm rot="0">
            <a:off x="640080" y="1325880"/>
            <a:ext cx="548640" cy="548640"/>
          </a:xfrm>
          <a:prstGeom prst="ellipse"/>
          <a:solidFill>
            <a:srgbClr val="1A3BD8"/>
          </a:solidFill>
          <a:ln w="6350" cmpd="sng" cap="flat">
            <a:solidFill>
              <a:srgbClr val="1A3BD8"/>
            </a:solidFill>
            <a:prstDash val="solid"/>
            <a:round/>
          </a:ln>
        </p:spPr>
      </p:sp>
      <p:pic>
        <p:nvPicPr>
          <p:cNvPr id="66" name="图片" descr="preencoded.png"/>
          <p:cNvPicPr>
            <a:picLocks noChangeAspect="1"/>
          </p:cNvPicPr>
          <p:nvPr/>
        </p:nvPicPr>
        <p:blipFill>
          <a:blip r:embed="rId1" cstate="print"/>
          <a:stretch>
            <a:fillRect/>
          </a:stretch>
        </p:blipFill>
        <p:spPr>
          <a:xfrm rot="0">
            <a:off x="777240" y="1463040"/>
            <a:ext cx="274320" cy="274319"/>
          </a:xfrm>
          <a:prstGeom prst="rect"/>
          <a:noFill/>
          <a:ln w="12700" cmpd="sng" cap="flat">
            <a:noFill/>
            <a:prstDash val="solid"/>
            <a:miter/>
          </a:ln>
        </p:spPr>
      </p:pic>
      <p:sp>
        <p:nvSpPr>
          <p:cNvPr id="67" name="矩形"/>
          <p:cNvSpPr>
            <a:spLocks/>
          </p:cNvSpPr>
          <p:nvPr/>
        </p:nvSpPr>
        <p:spPr>
          <a:xfrm rot="0">
            <a:off x="1371600" y="1188720"/>
            <a:ext cx="7178040" cy="82295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1" i="0" u="none" strike="noStrike" kern="1200" cap="none" spc="0" baseline="0">
                <a:solidFill>
                  <a:schemeClr val="accent2"/>
                </a:solidFill>
                <a:latin typeface="Calibri" pitchFamily="0" charset="0"/>
                <a:ea typeface="等线" pitchFamily="0" charset="0"/>
                <a:cs typeface="Calibri" pitchFamily="0" charset="0"/>
              </a:rPr>
              <a:t>ABSTRACT   </a:t>
            </a:r>
            <a:r>
              <a:rPr lang="en-US" altLang="zh-CN" sz="1400" b="0" i="0" u="none" strike="noStrike" kern="1200" cap="none" spc="0" baseline="0">
                <a:solidFill>
                  <a:schemeClr val="bg1"/>
                </a:solidFill>
                <a:latin typeface="Calibri" pitchFamily="0" charset="0"/>
                <a:ea typeface="等线" pitchFamily="0" charset="0"/>
                <a:cs typeface="Calibri" pitchFamily="0" charset="0"/>
              </a:rPr>
              <a:t>An evidence-based ML system that classifies IP addresses into residential, mobile, hosting, VPN/proxy and Tor network types — using validated registry and network data, and honestly flagging incomplete, overlapping or uncertain cases.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68" name="圆角矩形"/>
          <p:cNvSpPr>
            <a:spLocks/>
          </p:cNvSpPr>
          <p:nvPr/>
        </p:nvSpPr>
        <p:spPr>
          <a:xfrm rot="0">
            <a:off x="457200" y="2286000"/>
            <a:ext cx="2651760" cy="1069848"/>
          </a:xfrm>
          <a:prstGeom prst="roundRect">
            <a:avLst>
              <a:gd name="adj" fmla="val 6837"/>
            </a:avLst>
          </a:prstGeom>
          <a:solidFill>
            <a:schemeClr val="bg2"/>
          </a:solidFill>
          <a:ln w="6350" cmpd="sng" cap="flat">
            <a:solidFill>
              <a:srgbClr val="EEF2FF"/>
            </a:solidFill>
            <a:prstDash val="solid"/>
            <a:round/>
          </a:ln>
        </p:spPr>
      </p:sp>
      <p:sp>
        <p:nvSpPr>
          <p:cNvPr id="69" name="椭圆"/>
          <p:cNvSpPr>
            <a:spLocks/>
          </p:cNvSpPr>
          <p:nvPr/>
        </p:nvSpPr>
        <p:spPr>
          <a:xfrm rot="0">
            <a:off x="594360" y="2414016"/>
            <a:ext cx="384048" cy="384047"/>
          </a:xfrm>
          <a:prstGeom prst="ellipse"/>
          <a:solidFill>
            <a:srgbClr val="1A3BD8"/>
          </a:solidFill>
          <a:ln w="6350" cmpd="sng" cap="flat">
            <a:solidFill>
              <a:srgbClr val="1A3BD8"/>
            </a:solidFill>
            <a:prstDash val="solid"/>
            <a:round/>
          </a:ln>
        </p:spPr>
      </p:sp>
      <p:pic>
        <p:nvPicPr>
          <p:cNvPr id="70" name="图片" descr="preencoded.png"/>
          <p:cNvPicPr>
            <a:picLocks noChangeAspect="1"/>
          </p:cNvPicPr>
          <p:nvPr/>
        </p:nvPicPr>
        <p:blipFill>
          <a:blip r:embed="rId2" cstate="print"/>
          <a:stretch>
            <a:fillRect/>
          </a:stretch>
        </p:blipFill>
        <p:spPr>
          <a:xfrm rot="0">
            <a:off x="690372" y="2510028"/>
            <a:ext cx="192024" cy="192024"/>
          </a:xfrm>
          <a:prstGeom prst="rect"/>
          <a:noFill/>
          <a:ln w="12700" cmpd="sng" cap="flat">
            <a:noFill/>
            <a:prstDash val="solid"/>
            <a:miter/>
          </a:ln>
        </p:spPr>
      </p:pic>
      <p:sp>
        <p:nvSpPr>
          <p:cNvPr id="71" name="矩形"/>
          <p:cNvSpPr>
            <a:spLocks/>
          </p:cNvSpPr>
          <p:nvPr/>
        </p:nvSpPr>
        <p:spPr>
          <a:xfrm rot="0">
            <a:off x="1078992" y="2414016"/>
            <a:ext cx="1920240" cy="384047"/>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Scattered evidence</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72" name="矩形"/>
          <p:cNvSpPr>
            <a:spLocks/>
          </p:cNvSpPr>
          <p:nvPr/>
        </p:nvSpPr>
        <p:spPr>
          <a:xfrm rot="0">
            <a:off x="594360" y="2880360"/>
            <a:ext cx="2395728"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Network-type data lives across many datasets and sources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73" name="圆角矩形"/>
          <p:cNvSpPr>
            <a:spLocks/>
          </p:cNvSpPr>
          <p:nvPr/>
        </p:nvSpPr>
        <p:spPr>
          <a:xfrm rot="0">
            <a:off x="3246120" y="2286000"/>
            <a:ext cx="2651760" cy="1069848"/>
          </a:xfrm>
          <a:prstGeom prst="roundRect">
            <a:avLst>
              <a:gd name="adj" fmla="val 6837"/>
            </a:avLst>
          </a:prstGeom>
          <a:solidFill>
            <a:schemeClr val="bg2"/>
          </a:solidFill>
          <a:ln w="6350" cmpd="sng" cap="flat">
            <a:solidFill>
              <a:srgbClr val="EEF2FF"/>
            </a:solidFill>
            <a:prstDash val="solid"/>
            <a:round/>
          </a:ln>
        </p:spPr>
      </p:sp>
      <p:sp>
        <p:nvSpPr>
          <p:cNvPr id="74" name="椭圆"/>
          <p:cNvSpPr>
            <a:spLocks/>
          </p:cNvSpPr>
          <p:nvPr/>
        </p:nvSpPr>
        <p:spPr>
          <a:xfrm rot="0">
            <a:off x="3383279" y="2414016"/>
            <a:ext cx="384048" cy="384047"/>
          </a:xfrm>
          <a:prstGeom prst="ellipse"/>
          <a:solidFill>
            <a:srgbClr val="1A3BD8"/>
          </a:solidFill>
          <a:ln w="6350" cmpd="sng" cap="flat">
            <a:solidFill>
              <a:srgbClr val="1A3BD8"/>
            </a:solidFill>
            <a:prstDash val="solid"/>
            <a:round/>
          </a:ln>
        </p:spPr>
      </p:sp>
      <p:pic>
        <p:nvPicPr>
          <p:cNvPr id="75" name="图片" descr="preencoded.png"/>
          <p:cNvPicPr>
            <a:picLocks noChangeAspect="1"/>
          </p:cNvPicPr>
          <p:nvPr/>
        </p:nvPicPr>
        <p:blipFill>
          <a:blip r:embed="rId3" cstate="print"/>
          <a:stretch>
            <a:fillRect/>
          </a:stretch>
        </p:blipFill>
        <p:spPr>
          <a:xfrm rot="0">
            <a:off x="3479292" y="2510028"/>
            <a:ext cx="192024" cy="192024"/>
          </a:xfrm>
          <a:prstGeom prst="rect"/>
          <a:noFill/>
          <a:ln w="12700" cmpd="sng" cap="flat">
            <a:noFill/>
            <a:prstDash val="solid"/>
            <a:miter/>
          </a:ln>
        </p:spPr>
      </p:pic>
      <p:sp>
        <p:nvSpPr>
          <p:cNvPr id="76" name="矩形"/>
          <p:cNvSpPr>
            <a:spLocks/>
          </p:cNvSpPr>
          <p:nvPr/>
        </p:nvSpPr>
        <p:spPr>
          <a:xfrm rot="0">
            <a:off x="3867912" y="2414016"/>
            <a:ext cx="1920240" cy="384047"/>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Noisy records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77" name="矩形"/>
          <p:cNvSpPr>
            <a:spLocks/>
          </p:cNvSpPr>
          <p:nvPr/>
        </p:nvSpPr>
        <p:spPr>
          <a:xfrm rot="0">
            <a:off x="3383279" y="2880360"/>
            <a:ext cx="2395728"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Missing, inconsistent, outdated or mislabelled entries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78" name="圆角矩形"/>
          <p:cNvSpPr>
            <a:spLocks/>
          </p:cNvSpPr>
          <p:nvPr/>
        </p:nvSpPr>
        <p:spPr>
          <a:xfrm rot="0">
            <a:off x="6035039" y="2286000"/>
            <a:ext cx="2651760" cy="1069848"/>
          </a:xfrm>
          <a:prstGeom prst="roundRect">
            <a:avLst>
              <a:gd name="adj" fmla="val 6837"/>
            </a:avLst>
          </a:prstGeom>
          <a:solidFill>
            <a:schemeClr val="bg2"/>
          </a:solidFill>
          <a:ln w="6350" cmpd="sng" cap="flat">
            <a:solidFill>
              <a:srgbClr val="EEF2FF"/>
            </a:solidFill>
            <a:prstDash val="solid"/>
            <a:round/>
          </a:ln>
        </p:spPr>
      </p:sp>
      <p:sp>
        <p:nvSpPr>
          <p:cNvPr id="79" name="椭圆"/>
          <p:cNvSpPr>
            <a:spLocks/>
          </p:cNvSpPr>
          <p:nvPr/>
        </p:nvSpPr>
        <p:spPr>
          <a:xfrm rot="0">
            <a:off x="6172200" y="2414016"/>
            <a:ext cx="384048" cy="384047"/>
          </a:xfrm>
          <a:prstGeom prst="ellipse"/>
          <a:solidFill>
            <a:srgbClr val="1A3BD8"/>
          </a:solidFill>
          <a:ln w="6350" cmpd="sng" cap="flat">
            <a:solidFill>
              <a:srgbClr val="1A3BD8"/>
            </a:solidFill>
            <a:prstDash val="solid"/>
            <a:round/>
          </a:ln>
        </p:spPr>
      </p:sp>
      <p:pic>
        <p:nvPicPr>
          <p:cNvPr id="80" name="图片" descr="preencoded.png"/>
          <p:cNvPicPr>
            <a:picLocks noChangeAspect="1"/>
          </p:cNvPicPr>
          <p:nvPr/>
        </p:nvPicPr>
        <p:blipFill>
          <a:blip r:embed="rId4" cstate="print"/>
          <a:stretch>
            <a:fillRect/>
          </a:stretch>
        </p:blipFill>
        <p:spPr>
          <a:xfrm rot="0">
            <a:off x="6268212" y="2510028"/>
            <a:ext cx="192023" cy="192024"/>
          </a:xfrm>
          <a:prstGeom prst="rect"/>
          <a:noFill/>
          <a:ln w="12700" cmpd="sng" cap="flat">
            <a:noFill/>
            <a:prstDash val="solid"/>
            <a:miter/>
          </a:ln>
        </p:spPr>
      </p:pic>
      <p:sp>
        <p:nvSpPr>
          <p:cNvPr id="81" name="矩形"/>
          <p:cNvSpPr>
            <a:spLocks/>
          </p:cNvSpPr>
          <p:nvPr/>
        </p:nvSpPr>
        <p:spPr>
          <a:xfrm rot="0">
            <a:off x="6656832" y="2414016"/>
            <a:ext cx="1920240" cy="384047"/>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Overlapping classes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82" name="矩形"/>
          <p:cNvSpPr>
            <a:spLocks/>
          </p:cNvSpPr>
          <p:nvPr/>
        </p:nvSpPr>
        <p:spPr>
          <a:xfrm rot="0">
            <a:off x="6172200" y="2880360"/>
            <a:ext cx="2395727"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VPNs run on hosting; residential IPs can act as proxies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3" name="圆角矩形"/>
          <p:cNvSpPr>
            <a:spLocks/>
          </p:cNvSpPr>
          <p:nvPr/>
        </p:nvSpPr>
        <p:spPr>
          <a:xfrm rot="0">
            <a:off x="457200" y="3474720"/>
            <a:ext cx="2651760" cy="1069848"/>
          </a:xfrm>
          <a:prstGeom prst="roundRect">
            <a:avLst>
              <a:gd name="adj" fmla="val 6837"/>
            </a:avLst>
          </a:prstGeom>
          <a:solidFill>
            <a:schemeClr val="bg2"/>
          </a:solidFill>
          <a:ln w="6350" cmpd="sng" cap="flat">
            <a:solidFill>
              <a:srgbClr val="EEF2FF"/>
            </a:solidFill>
            <a:prstDash val="solid"/>
            <a:round/>
          </a:ln>
        </p:spPr>
      </p:sp>
      <p:sp>
        <p:nvSpPr>
          <p:cNvPr id="84" name="椭圆"/>
          <p:cNvSpPr>
            <a:spLocks/>
          </p:cNvSpPr>
          <p:nvPr/>
        </p:nvSpPr>
        <p:spPr>
          <a:xfrm rot="0">
            <a:off x="594360" y="3602736"/>
            <a:ext cx="384048" cy="384048"/>
          </a:xfrm>
          <a:prstGeom prst="ellipse"/>
          <a:solidFill>
            <a:srgbClr val="1A3BD8"/>
          </a:solidFill>
          <a:ln w="6350" cmpd="sng" cap="flat">
            <a:solidFill>
              <a:srgbClr val="1A3BD8"/>
            </a:solidFill>
            <a:prstDash val="solid"/>
            <a:round/>
          </a:ln>
        </p:spPr>
      </p:sp>
      <p:pic>
        <p:nvPicPr>
          <p:cNvPr id="85" name="图片" descr="preencoded.png"/>
          <p:cNvPicPr>
            <a:picLocks noChangeAspect="1"/>
          </p:cNvPicPr>
          <p:nvPr/>
        </p:nvPicPr>
        <p:blipFill>
          <a:blip r:embed="rId5" cstate="print"/>
          <a:stretch>
            <a:fillRect/>
          </a:stretch>
        </p:blipFill>
        <p:spPr>
          <a:xfrm rot="0">
            <a:off x="690372" y="3698748"/>
            <a:ext cx="192024" cy="192024"/>
          </a:xfrm>
          <a:prstGeom prst="rect"/>
          <a:noFill/>
          <a:ln w="12700" cmpd="sng" cap="flat">
            <a:noFill/>
            <a:prstDash val="solid"/>
            <a:miter/>
          </a:ln>
        </p:spPr>
      </p:pic>
      <p:sp>
        <p:nvSpPr>
          <p:cNvPr id="86" name="矩形"/>
          <p:cNvSpPr>
            <a:spLocks/>
          </p:cNvSpPr>
          <p:nvPr/>
        </p:nvSpPr>
        <p:spPr>
          <a:xfrm rot="0">
            <a:off x="1078992" y="3602736"/>
            <a:ext cx="1920240" cy="38404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Moving targets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87" name="矩形"/>
          <p:cNvSpPr>
            <a:spLocks/>
          </p:cNvSpPr>
          <p:nvPr/>
        </p:nvSpPr>
        <p:spPr>
          <a:xfrm rot="0">
            <a:off x="594360" y="4069080"/>
            <a:ext cx="2395728"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IP addresses and network assignments change over time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88" name="圆角矩形"/>
          <p:cNvSpPr>
            <a:spLocks/>
          </p:cNvSpPr>
          <p:nvPr/>
        </p:nvSpPr>
        <p:spPr>
          <a:xfrm rot="0">
            <a:off x="3246120" y="3474720"/>
            <a:ext cx="2651760" cy="1069848"/>
          </a:xfrm>
          <a:prstGeom prst="roundRect">
            <a:avLst>
              <a:gd name="adj" fmla="val 6837"/>
            </a:avLst>
          </a:prstGeom>
          <a:solidFill>
            <a:schemeClr val="bg2"/>
          </a:solidFill>
          <a:ln w="6350" cmpd="sng" cap="flat">
            <a:solidFill>
              <a:srgbClr val="EEF2FF"/>
            </a:solidFill>
            <a:prstDash val="solid"/>
            <a:round/>
          </a:ln>
        </p:spPr>
      </p:sp>
      <p:sp>
        <p:nvSpPr>
          <p:cNvPr id="89" name="椭圆"/>
          <p:cNvSpPr>
            <a:spLocks/>
          </p:cNvSpPr>
          <p:nvPr/>
        </p:nvSpPr>
        <p:spPr>
          <a:xfrm rot="0">
            <a:off x="3383279" y="3602736"/>
            <a:ext cx="384048" cy="384048"/>
          </a:xfrm>
          <a:prstGeom prst="ellipse"/>
          <a:solidFill>
            <a:srgbClr val="1A3BD8"/>
          </a:solidFill>
          <a:ln w="6350" cmpd="sng" cap="flat">
            <a:solidFill>
              <a:srgbClr val="1A3BD8"/>
            </a:solidFill>
            <a:prstDash val="solid"/>
            <a:round/>
          </a:ln>
        </p:spPr>
      </p:sp>
      <p:pic>
        <p:nvPicPr>
          <p:cNvPr id="90" name="图片" descr="preencoded.png"/>
          <p:cNvPicPr>
            <a:picLocks noChangeAspect="1"/>
          </p:cNvPicPr>
          <p:nvPr/>
        </p:nvPicPr>
        <p:blipFill>
          <a:blip r:embed="rId6" cstate="print"/>
          <a:stretch>
            <a:fillRect/>
          </a:stretch>
        </p:blipFill>
        <p:spPr>
          <a:xfrm rot="0">
            <a:off x="3479292" y="3698748"/>
            <a:ext cx="192024" cy="192024"/>
          </a:xfrm>
          <a:prstGeom prst="rect"/>
          <a:noFill/>
          <a:ln w="12700" cmpd="sng" cap="flat">
            <a:noFill/>
            <a:prstDash val="solid"/>
            <a:miter/>
          </a:ln>
        </p:spPr>
      </p:pic>
      <p:sp>
        <p:nvSpPr>
          <p:cNvPr id="91" name="矩形"/>
          <p:cNvSpPr>
            <a:spLocks/>
          </p:cNvSpPr>
          <p:nvPr/>
        </p:nvSpPr>
        <p:spPr>
          <a:xfrm rot="0">
            <a:off x="3867912" y="3602736"/>
            <a:ext cx="1920240" cy="38404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Costly errors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92" name="矩形"/>
          <p:cNvSpPr>
            <a:spLocks/>
          </p:cNvSpPr>
          <p:nvPr/>
        </p:nvSpPr>
        <p:spPr>
          <a:xfrm rot="0">
            <a:off x="3383279" y="4069080"/>
            <a:ext cx="2395728"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Wrong labels lead to wrong downstream decisions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93" name="圆角矩形"/>
          <p:cNvSpPr>
            <a:spLocks/>
          </p:cNvSpPr>
          <p:nvPr/>
        </p:nvSpPr>
        <p:spPr>
          <a:xfrm rot="0">
            <a:off x="6035039" y="3474720"/>
            <a:ext cx="2651760" cy="1069848"/>
          </a:xfrm>
          <a:prstGeom prst="roundRect">
            <a:avLst>
              <a:gd name="adj" fmla="val 6837"/>
            </a:avLst>
          </a:prstGeom>
          <a:solidFill>
            <a:schemeClr val="bg2"/>
          </a:solidFill>
          <a:ln w="6350" cmpd="sng" cap="flat">
            <a:solidFill>
              <a:srgbClr val="EEF2FF"/>
            </a:solidFill>
            <a:prstDash val="solid"/>
            <a:round/>
          </a:ln>
        </p:spPr>
      </p:sp>
      <p:sp>
        <p:nvSpPr>
          <p:cNvPr id="94" name="椭圆"/>
          <p:cNvSpPr>
            <a:spLocks/>
          </p:cNvSpPr>
          <p:nvPr/>
        </p:nvSpPr>
        <p:spPr>
          <a:xfrm rot="0">
            <a:off x="6172200" y="3602736"/>
            <a:ext cx="384048" cy="384048"/>
          </a:xfrm>
          <a:prstGeom prst="ellipse"/>
          <a:solidFill>
            <a:srgbClr val="FF9933"/>
          </a:solidFill>
          <a:ln w="6350" cmpd="sng" cap="flat">
            <a:solidFill>
              <a:srgbClr val="FF9933"/>
            </a:solidFill>
            <a:prstDash val="solid"/>
            <a:round/>
          </a:ln>
        </p:spPr>
      </p:sp>
      <p:pic>
        <p:nvPicPr>
          <p:cNvPr id="95" name="图片" descr="preencoded.png"/>
          <p:cNvPicPr>
            <a:picLocks noChangeAspect="1"/>
          </p:cNvPicPr>
          <p:nvPr/>
        </p:nvPicPr>
        <p:blipFill>
          <a:blip r:embed="rId7" cstate="print"/>
          <a:stretch>
            <a:fillRect/>
          </a:stretch>
        </p:blipFill>
        <p:spPr>
          <a:xfrm rot="0">
            <a:off x="6268212" y="3698748"/>
            <a:ext cx="192023" cy="192024"/>
          </a:xfrm>
          <a:prstGeom prst="rect"/>
          <a:noFill/>
          <a:ln w="12700" cmpd="sng" cap="flat">
            <a:noFill/>
            <a:prstDash val="solid"/>
            <a:miter/>
          </a:ln>
        </p:spPr>
      </p:pic>
      <p:sp>
        <p:nvSpPr>
          <p:cNvPr id="96" name="矩形"/>
          <p:cNvSpPr>
            <a:spLocks/>
          </p:cNvSpPr>
          <p:nvPr/>
        </p:nvSpPr>
        <p:spPr>
          <a:xfrm rot="0">
            <a:off x="6656832" y="3602736"/>
            <a:ext cx="1920240" cy="38404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Forced guesses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97" name="矩形"/>
          <p:cNvSpPr>
            <a:spLocks/>
          </p:cNvSpPr>
          <p:nvPr/>
        </p:nvSpPr>
        <p:spPr>
          <a:xfrm rot="0">
            <a:off x="6172200" y="4069080"/>
            <a:ext cx="2395727" cy="4114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The model must flag uncertainty, not fake certainty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98"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2</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585709554"/>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01"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Background</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2"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Background</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103" name="矩形"/>
          <p:cNvSpPr>
            <a:spLocks/>
          </p:cNvSpPr>
          <p:nvPr/>
        </p:nvSpPr>
        <p:spPr>
          <a:xfrm rot="0">
            <a:off x="457200" y="1051560"/>
            <a:ext cx="8229600" cy="32004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600" b="1" i="0" u="none" strike="noStrike" kern="1200" cap="none" spc="0" baseline="0">
                <a:solidFill>
                  <a:schemeClr val="tx2"/>
                </a:solidFill>
                <a:latin typeface="Calibri" pitchFamily="0" charset="0"/>
                <a:ea typeface="等线" pitchFamily="0" charset="0"/>
                <a:cs typeface="Calibri" pitchFamily="0" charset="0"/>
              </a:rPr>
              <a:t>An IP address alone does not reveal its network type — evidence does:</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4" name="圆角矩形"/>
          <p:cNvSpPr>
            <a:spLocks/>
          </p:cNvSpPr>
          <p:nvPr/>
        </p:nvSpPr>
        <p:spPr>
          <a:xfrm rot="0">
            <a:off x="457200" y="1417320"/>
            <a:ext cx="1965960" cy="329184"/>
          </a:xfrm>
          <a:prstGeom prst="roundRect">
            <a:avLst>
              <a:gd name="adj" fmla="val 50000"/>
            </a:avLst>
          </a:prstGeom>
          <a:solidFill>
            <a:schemeClr val="accent1"/>
          </a:solidFill>
          <a:ln w="6350" cmpd="sng" cap="flat">
            <a:solidFill>
              <a:srgbClr val="1A3BD8"/>
            </a:solidFill>
            <a:prstDash val="solid"/>
            <a:round/>
          </a:ln>
        </p:spPr>
      </p:sp>
      <p:sp>
        <p:nvSpPr>
          <p:cNvPr id="105" name="矩形"/>
          <p:cNvSpPr>
            <a:spLocks/>
          </p:cNvSpPr>
          <p:nvPr/>
        </p:nvSpPr>
        <p:spPr>
          <a:xfrm rot="0">
            <a:off x="457200" y="1417320"/>
            <a:ext cx="1965960" cy="329184"/>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Network ownership</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6" name="圆角矩形"/>
          <p:cNvSpPr>
            <a:spLocks/>
          </p:cNvSpPr>
          <p:nvPr/>
        </p:nvSpPr>
        <p:spPr>
          <a:xfrm rot="0">
            <a:off x="2560320" y="1417320"/>
            <a:ext cx="1965960" cy="329184"/>
          </a:xfrm>
          <a:prstGeom prst="roundRect">
            <a:avLst>
              <a:gd name="adj" fmla="val 50000"/>
            </a:avLst>
          </a:prstGeom>
          <a:solidFill>
            <a:schemeClr val="accent1"/>
          </a:solidFill>
          <a:ln w="6350" cmpd="sng" cap="flat">
            <a:solidFill>
              <a:srgbClr val="1A3BD8"/>
            </a:solidFill>
            <a:prstDash val="solid"/>
            <a:round/>
          </a:ln>
        </p:spPr>
      </p:sp>
      <p:sp>
        <p:nvSpPr>
          <p:cNvPr id="107" name="矩形"/>
          <p:cNvSpPr>
            <a:spLocks/>
          </p:cNvSpPr>
          <p:nvPr/>
        </p:nvSpPr>
        <p:spPr>
          <a:xfrm rot="0">
            <a:off x="2560320" y="1417320"/>
            <a:ext cx="1965960" cy="329184"/>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ASN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8" name="圆角矩形"/>
          <p:cNvSpPr>
            <a:spLocks/>
          </p:cNvSpPr>
          <p:nvPr/>
        </p:nvSpPr>
        <p:spPr>
          <a:xfrm rot="0">
            <a:off x="4663440" y="1417320"/>
            <a:ext cx="1965960" cy="329184"/>
          </a:xfrm>
          <a:prstGeom prst="roundRect">
            <a:avLst>
              <a:gd name="adj" fmla="val 50000"/>
            </a:avLst>
          </a:prstGeom>
          <a:solidFill>
            <a:schemeClr val="accent1"/>
          </a:solidFill>
          <a:ln w="6350" cmpd="sng" cap="flat">
            <a:solidFill>
              <a:srgbClr val="1A3BD8"/>
            </a:solidFill>
            <a:prstDash val="solid"/>
            <a:round/>
          </a:ln>
        </p:spPr>
      </p:sp>
      <p:sp>
        <p:nvSpPr>
          <p:cNvPr id="109" name="矩形"/>
          <p:cNvSpPr>
            <a:spLocks/>
          </p:cNvSpPr>
          <p:nvPr/>
        </p:nvSpPr>
        <p:spPr>
          <a:xfrm rot="0">
            <a:off x="4663440" y="1417320"/>
            <a:ext cx="1965960" cy="329184"/>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IP prefix allocation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0" name="圆角矩形"/>
          <p:cNvSpPr>
            <a:spLocks/>
          </p:cNvSpPr>
          <p:nvPr/>
        </p:nvSpPr>
        <p:spPr>
          <a:xfrm rot="0">
            <a:off x="6766559" y="1417320"/>
            <a:ext cx="1965959" cy="329184"/>
          </a:xfrm>
          <a:prstGeom prst="roundRect">
            <a:avLst>
              <a:gd name="adj" fmla="val 50000"/>
            </a:avLst>
          </a:prstGeom>
          <a:solidFill>
            <a:schemeClr val="accent1"/>
          </a:solidFill>
          <a:ln w="6350" cmpd="sng" cap="flat">
            <a:solidFill>
              <a:srgbClr val="1A3BD8"/>
            </a:solidFill>
            <a:prstDash val="solid"/>
            <a:round/>
          </a:ln>
        </p:spPr>
      </p:sp>
      <p:sp>
        <p:nvSpPr>
          <p:cNvPr id="111" name="矩形"/>
          <p:cNvSpPr>
            <a:spLocks/>
          </p:cNvSpPr>
          <p:nvPr/>
        </p:nvSpPr>
        <p:spPr>
          <a:xfrm rot="0">
            <a:off x="6766559" y="1417320"/>
            <a:ext cx="1965959" cy="329184"/>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Anonymization indicators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2" name="圆角矩形"/>
          <p:cNvSpPr>
            <a:spLocks/>
          </p:cNvSpPr>
          <p:nvPr/>
        </p:nvSpPr>
        <p:spPr>
          <a:xfrm rot="0">
            <a:off x="457200" y="1920240"/>
            <a:ext cx="2651760" cy="960119"/>
          </a:xfrm>
          <a:prstGeom prst="roundRect">
            <a:avLst>
              <a:gd name="adj" fmla="val 7620"/>
            </a:avLst>
          </a:prstGeom>
          <a:solidFill>
            <a:schemeClr val="bg2"/>
          </a:solidFill>
          <a:ln w="6350" cmpd="sng" cap="flat">
            <a:solidFill>
              <a:srgbClr val="EEF2FF"/>
            </a:solidFill>
            <a:prstDash val="solid"/>
            <a:round/>
          </a:ln>
        </p:spPr>
      </p:sp>
      <p:sp>
        <p:nvSpPr>
          <p:cNvPr id="113" name="椭圆"/>
          <p:cNvSpPr>
            <a:spLocks/>
          </p:cNvSpPr>
          <p:nvPr/>
        </p:nvSpPr>
        <p:spPr>
          <a:xfrm rot="0">
            <a:off x="594360" y="2167128"/>
            <a:ext cx="457200" cy="457200"/>
          </a:xfrm>
          <a:prstGeom prst="ellipse"/>
          <a:solidFill>
            <a:srgbClr val="1A3BD8"/>
          </a:solidFill>
          <a:ln w="6350" cmpd="sng" cap="flat">
            <a:solidFill>
              <a:srgbClr val="1A3BD8"/>
            </a:solidFill>
            <a:prstDash val="solid"/>
            <a:round/>
          </a:ln>
        </p:spPr>
      </p:sp>
      <p:pic>
        <p:nvPicPr>
          <p:cNvPr id="114" name="图片" descr="preencoded.png"/>
          <p:cNvPicPr>
            <a:picLocks noChangeAspect="1"/>
          </p:cNvPicPr>
          <p:nvPr/>
        </p:nvPicPr>
        <p:blipFill>
          <a:blip r:embed="rId1" cstate="print"/>
          <a:stretch>
            <a:fillRect/>
          </a:stretch>
        </p:blipFill>
        <p:spPr>
          <a:xfrm rot="0">
            <a:off x="708660" y="2281428"/>
            <a:ext cx="228600" cy="228599"/>
          </a:xfrm>
          <a:prstGeom prst="rect"/>
          <a:noFill/>
          <a:ln w="12700" cmpd="sng" cap="flat">
            <a:noFill/>
            <a:prstDash val="solid"/>
            <a:miter/>
          </a:ln>
        </p:spPr>
      </p:pic>
      <p:sp>
        <p:nvSpPr>
          <p:cNvPr id="115" name="矩形"/>
          <p:cNvSpPr>
            <a:spLocks/>
          </p:cNvSpPr>
          <p:nvPr/>
        </p:nvSpPr>
        <p:spPr>
          <a:xfrm rot="0">
            <a:off x="1188720" y="2048255"/>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Residential</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6" name="矩形"/>
          <p:cNvSpPr>
            <a:spLocks/>
          </p:cNvSpPr>
          <p:nvPr/>
        </p:nvSpPr>
        <p:spPr>
          <a:xfrm rot="0">
            <a:off x="1188720" y="2340864"/>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Residential internet service providers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17" name="圆角矩形"/>
          <p:cNvSpPr>
            <a:spLocks/>
          </p:cNvSpPr>
          <p:nvPr/>
        </p:nvSpPr>
        <p:spPr>
          <a:xfrm rot="0">
            <a:off x="3246120" y="1920240"/>
            <a:ext cx="2651760" cy="960119"/>
          </a:xfrm>
          <a:prstGeom prst="roundRect">
            <a:avLst>
              <a:gd name="adj" fmla="val 7620"/>
            </a:avLst>
          </a:prstGeom>
          <a:solidFill>
            <a:schemeClr val="bg2"/>
          </a:solidFill>
          <a:ln w="6350" cmpd="sng" cap="flat">
            <a:solidFill>
              <a:srgbClr val="EEF2FF"/>
            </a:solidFill>
            <a:prstDash val="solid"/>
            <a:round/>
          </a:ln>
        </p:spPr>
      </p:sp>
      <p:sp>
        <p:nvSpPr>
          <p:cNvPr id="118" name="椭圆"/>
          <p:cNvSpPr>
            <a:spLocks/>
          </p:cNvSpPr>
          <p:nvPr/>
        </p:nvSpPr>
        <p:spPr>
          <a:xfrm rot="0">
            <a:off x="3383279" y="2167128"/>
            <a:ext cx="457200" cy="457200"/>
          </a:xfrm>
          <a:prstGeom prst="ellipse"/>
          <a:solidFill>
            <a:srgbClr val="1A3BD8"/>
          </a:solidFill>
          <a:ln w="6350" cmpd="sng" cap="flat">
            <a:solidFill>
              <a:srgbClr val="1A3BD8"/>
            </a:solidFill>
            <a:prstDash val="solid"/>
            <a:round/>
          </a:ln>
        </p:spPr>
      </p:sp>
      <p:pic>
        <p:nvPicPr>
          <p:cNvPr id="119" name="图片" descr="preencoded.png"/>
          <p:cNvPicPr>
            <a:picLocks noChangeAspect="1"/>
          </p:cNvPicPr>
          <p:nvPr/>
        </p:nvPicPr>
        <p:blipFill>
          <a:blip r:embed="rId2" cstate="print"/>
          <a:stretch>
            <a:fillRect/>
          </a:stretch>
        </p:blipFill>
        <p:spPr>
          <a:xfrm rot="0">
            <a:off x="3497580" y="2281428"/>
            <a:ext cx="228600" cy="228599"/>
          </a:xfrm>
          <a:prstGeom prst="rect"/>
          <a:noFill/>
          <a:ln w="12700" cmpd="sng" cap="flat">
            <a:noFill/>
            <a:prstDash val="solid"/>
            <a:miter/>
          </a:ln>
        </p:spPr>
      </p:pic>
      <p:sp>
        <p:nvSpPr>
          <p:cNvPr id="120" name="矩形"/>
          <p:cNvSpPr>
            <a:spLocks/>
          </p:cNvSpPr>
          <p:nvPr/>
        </p:nvSpPr>
        <p:spPr>
          <a:xfrm rot="0">
            <a:off x="3977640" y="2048255"/>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Mobile</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1" name="矩形"/>
          <p:cNvSpPr>
            <a:spLocks/>
          </p:cNvSpPr>
          <p:nvPr/>
        </p:nvSpPr>
        <p:spPr>
          <a:xfrm rot="0">
            <a:off x="3977640" y="2340864"/>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Cellular and mobile network operators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2" name="圆角矩形"/>
          <p:cNvSpPr>
            <a:spLocks/>
          </p:cNvSpPr>
          <p:nvPr/>
        </p:nvSpPr>
        <p:spPr>
          <a:xfrm rot="0">
            <a:off x="6035039" y="1920240"/>
            <a:ext cx="2651760" cy="960119"/>
          </a:xfrm>
          <a:prstGeom prst="roundRect">
            <a:avLst>
              <a:gd name="adj" fmla="val 7620"/>
            </a:avLst>
          </a:prstGeom>
          <a:solidFill>
            <a:schemeClr val="bg2"/>
          </a:solidFill>
          <a:ln w="6350" cmpd="sng" cap="flat">
            <a:solidFill>
              <a:srgbClr val="EEF2FF"/>
            </a:solidFill>
            <a:prstDash val="solid"/>
            <a:round/>
          </a:ln>
        </p:spPr>
      </p:sp>
      <p:sp>
        <p:nvSpPr>
          <p:cNvPr id="123" name="椭圆"/>
          <p:cNvSpPr>
            <a:spLocks/>
          </p:cNvSpPr>
          <p:nvPr/>
        </p:nvSpPr>
        <p:spPr>
          <a:xfrm rot="0">
            <a:off x="6172200" y="2167128"/>
            <a:ext cx="457200" cy="457200"/>
          </a:xfrm>
          <a:prstGeom prst="ellipse"/>
          <a:solidFill>
            <a:srgbClr val="1A3BD8"/>
          </a:solidFill>
          <a:ln w="6350" cmpd="sng" cap="flat">
            <a:solidFill>
              <a:srgbClr val="1A3BD8"/>
            </a:solidFill>
            <a:prstDash val="solid"/>
            <a:round/>
          </a:ln>
        </p:spPr>
      </p:sp>
      <p:pic>
        <p:nvPicPr>
          <p:cNvPr id="124" name="图片" descr="preencoded.png"/>
          <p:cNvPicPr>
            <a:picLocks noChangeAspect="1"/>
          </p:cNvPicPr>
          <p:nvPr/>
        </p:nvPicPr>
        <p:blipFill>
          <a:blip r:embed="rId3" cstate="print"/>
          <a:stretch>
            <a:fillRect/>
          </a:stretch>
        </p:blipFill>
        <p:spPr>
          <a:xfrm rot="0">
            <a:off x="6286499" y="2281428"/>
            <a:ext cx="228600" cy="228599"/>
          </a:xfrm>
          <a:prstGeom prst="rect"/>
          <a:noFill/>
          <a:ln w="12700" cmpd="sng" cap="flat">
            <a:noFill/>
            <a:prstDash val="solid"/>
            <a:miter/>
          </a:ln>
        </p:spPr>
      </p:pic>
      <p:sp>
        <p:nvSpPr>
          <p:cNvPr id="125" name="矩形"/>
          <p:cNvSpPr>
            <a:spLocks/>
          </p:cNvSpPr>
          <p:nvPr/>
        </p:nvSpPr>
        <p:spPr>
          <a:xfrm rot="0">
            <a:off x="6766559" y="2048255"/>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Hosting / Data Centre</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6" name="矩形"/>
          <p:cNvSpPr>
            <a:spLocks/>
          </p:cNvSpPr>
          <p:nvPr/>
        </p:nvSpPr>
        <p:spPr>
          <a:xfrm rot="0">
            <a:off x="6766559" y="2340864"/>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Cloud platforms, servers, hosting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7" name="圆角矩形"/>
          <p:cNvSpPr>
            <a:spLocks/>
          </p:cNvSpPr>
          <p:nvPr/>
        </p:nvSpPr>
        <p:spPr>
          <a:xfrm rot="0">
            <a:off x="457200" y="2999232"/>
            <a:ext cx="2651760" cy="960120"/>
          </a:xfrm>
          <a:prstGeom prst="roundRect">
            <a:avLst>
              <a:gd name="adj" fmla="val 7620"/>
            </a:avLst>
          </a:prstGeom>
          <a:solidFill>
            <a:schemeClr val="bg2"/>
          </a:solidFill>
          <a:ln w="6350" cmpd="sng" cap="flat">
            <a:solidFill>
              <a:srgbClr val="EEF2FF"/>
            </a:solidFill>
            <a:prstDash val="solid"/>
            <a:round/>
          </a:ln>
        </p:spPr>
      </p:sp>
      <p:sp>
        <p:nvSpPr>
          <p:cNvPr id="128" name="椭圆"/>
          <p:cNvSpPr>
            <a:spLocks/>
          </p:cNvSpPr>
          <p:nvPr/>
        </p:nvSpPr>
        <p:spPr>
          <a:xfrm rot="0">
            <a:off x="594360" y="3246120"/>
            <a:ext cx="457200" cy="457200"/>
          </a:xfrm>
          <a:prstGeom prst="ellipse"/>
          <a:solidFill>
            <a:srgbClr val="1A3BD8"/>
          </a:solidFill>
          <a:ln w="6350" cmpd="sng" cap="flat">
            <a:solidFill>
              <a:srgbClr val="1A3BD8"/>
            </a:solidFill>
            <a:prstDash val="solid"/>
            <a:round/>
          </a:ln>
        </p:spPr>
      </p:sp>
      <p:pic>
        <p:nvPicPr>
          <p:cNvPr id="129" name="图片" descr="preencoded.png"/>
          <p:cNvPicPr>
            <a:picLocks noChangeAspect="1"/>
          </p:cNvPicPr>
          <p:nvPr/>
        </p:nvPicPr>
        <p:blipFill>
          <a:blip r:embed="rId4" cstate="print"/>
          <a:stretch>
            <a:fillRect/>
          </a:stretch>
        </p:blipFill>
        <p:spPr>
          <a:xfrm rot="0">
            <a:off x="708660" y="3360419"/>
            <a:ext cx="228600" cy="228600"/>
          </a:xfrm>
          <a:prstGeom prst="rect"/>
          <a:noFill/>
          <a:ln w="12700" cmpd="sng" cap="flat">
            <a:noFill/>
            <a:prstDash val="solid"/>
            <a:miter/>
          </a:ln>
        </p:spPr>
      </p:pic>
      <p:sp>
        <p:nvSpPr>
          <p:cNvPr id="130" name="矩形"/>
          <p:cNvSpPr>
            <a:spLocks/>
          </p:cNvSpPr>
          <p:nvPr/>
        </p:nvSpPr>
        <p:spPr>
          <a:xfrm rot="0">
            <a:off x="1188720" y="3127248"/>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VPN / Proxy</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1" name="矩形"/>
          <p:cNvSpPr>
            <a:spLocks/>
          </p:cNvSpPr>
          <p:nvPr/>
        </p:nvSpPr>
        <p:spPr>
          <a:xfrm rot="0">
            <a:off x="1188720" y="3419856"/>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Known VPN and proxy services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2" name="圆角矩形"/>
          <p:cNvSpPr>
            <a:spLocks/>
          </p:cNvSpPr>
          <p:nvPr/>
        </p:nvSpPr>
        <p:spPr>
          <a:xfrm rot="0">
            <a:off x="3246120" y="2999232"/>
            <a:ext cx="2651760" cy="960120"/>
          </a:xfrm>
          <a:prstGeom prst="roundRect">
            <a:avLst>
              <a:gd name="adj" fmla="val 7620"/>
            </a:avLst>
          </a:prstGeom>
          <a:solidFill>
            <a:schemeClr val="bg2"/>
          </a:solidFill>
          <a:ln w="6350" cmpd="sng" cap="flat">
            <a:solidFill>
              <a:srgbClr val="EEF2FF"/>
            </a:solidFill>
            <a:prstDash val="solid"/>
            <a:round/>
          </a:ln>
        </p:spPr>
      </p:sp>
      <p:sp>
        <p:nvSpPr>
          <p:cNvPr id="133" name="椭圆"/>
          <p:cNvSpPr>
            <a:spLocks/>
          </p:cNvSpPr>
          <p:nvPr/>
        </p:nvSpPr>
        <p:spPr>
          <a:xfrm rot="0">
            <a:off x="3383279" y="3246120"/>
            <a:ext cx="457200" cy="457200"/>
          </a:xfrm>
          <a:prstGeom prst="ellipse"/>
          <a:solidFill>
            <a:srgbClr val="1A3BD8"/>
          </a:solidFill>
          <a:ln w="6350" cmpd="sng" cap="flat">
            <a:solidFill>
              <a:srgbClr val="1A3BD8"/>
            </a:solidFill>
            <a:prstDash val="solid"/>
            <a:round/>
          </a:ln>
        </p:spPr>
      </p:sp>
      <p:pic>
        <p:nvPicPr>
          <p:cNvPr id="134" name="图片" descr="preencoded.png"/>
          <p:cNvPicPr>
            <a:picLocks noChangeAspect="1"/>
          </p:cNvPicPr>
          <p:nvPr/>
        </p:nvPicPr>
        <p:blipFill>
          <a:blip r:embed="rId5" cstate="print"/>
          <a:stretch>
            <a:fillRect/>
          </a:stretch>
        </p:blipFill>
        <p:spPr>
          <a:xfrm rot="0">
            <a:off x="3497580" y="3360419"/>
            <a:ext cx="228600" cy="228600"/>
          </a:xfrm>
          <a:prstGeom prst="rect"/>
          <a:noFill/>
          <a:ln w="12700" cmpd="sng" cap="flat">
            <a:noFill/>
            <a:prstDash val="solid"/>
            <a:miter/>
          </a:ln>
        </p:spPr>
      </p:pic>
      <p:sp>
        <p:nvSpPr>
          <p:cNvPr id="135" name="矩形"/>
          <p:cNvSpPr>
            <a:spLocks/>
          </p:cNvSpPr>
          <p:nvPr/>
        </p:nvSpPr>
        <p:spPr>
          <a:xfrm rot="0">
            <a:off x="3977640" y="3127248"/>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Tor Exit Node</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6" name="矩形"/>
          <p:cNvSpPr>
            <a:spLocks/>
          </p:cNvSpPr>
          <p:nvPr/>
        </p:nvSpPr>
        <p:spPr>
          <a:xfrm rot="0">
            <a:off x="3977640" y="3419856"/>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Known Tor exit infrastructure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7" name="圆角矩形"/>
          <p:cNvSpPr>
            <a:spLocks/>
          </p:cNvSpPr>
          <p:nvPr/>
        </p:nvSpPr>
        <p:spPr>
          <a:xfrm rot="0">
            <a:off x="6035039" y="2999232"/>
            <a:ext cx="2651760" cy="960120"/>
          </a:xfrm>
          <a:prstGeom prst="roundRect">
            <a:avLst>
              <a:gd name="adj" fmla="val 7620"/>
            </a:avLst>
          </a:prstGeom>
          <a:solidFill>
            <a:srgbClr val="FF9933">
              <a:alpha val="15000"/>
            </a:srgbClr>
          </a:solidFill>
          <a:ln w="12700" cmpd="sng" cap="flat">
            <a:solidFill>
              <a:srgbClr val="FF9933"/>
            </a:solidFill>
            <a:prstDash val="solid"/>
            <a:round/>
          </a:ln>
        </p:spPr>
      </p:sp>
      <p:sp>
        <p:nvSpPr>
          <p:cNvPr id="138" name="椭圆"/>
          <p:cNvSpPr>
            <a:spLocks/>
          </p:cNvSpPr>
          <p:nvPr/>
        </p:nvSpPr>
        <p:spPr>
          <a:xfrm rot="0">
            <a:off x="6172200" y="3246120"/>
            <a:ext cx="457200" cy="457200"/>
          </a:xfrm>
          <a:prstGeom prst="ellipse"/>
          <a:solidFill>
            <a:srgbClr val="FF9933"/>
          </a:solidFill>
          <a:ln w="6350" cmpd="sng" cap="flat">
            <a:solidFill>
              <a:srgbClr val="FF9933"/>
            </a:solidFill>
            <a:prstDash val="solid"/>
            <a:round/>
          </a:ln>
        </p:spPr>
      </p:sp>
      <p:pic>
        <p:nvPicPr>
          <p:cNvPr id="139" name="图片" descr="preencoded.png"/>
          <p:cNvPicPr>
            <a:picLocks noChangeAspect="1"/>
          </p:cNvPicPr>
          <p:nvPr/>
        </p:nvPicPr>
        <p:blipFill>
          <a:blip r:embed="rId6" cstate="print"/>
          <a:stretch>
            <a:fillRect/>
          </a:stretch>
        </p:blipFill>
        <p:spPr>
          <a:xfrm rot="0">
            <a:off x="6286499" y="3360419"/>
            <a:ext cx="228600" cy="228600"/>
          </a:xfrm>
          <a:prstGeom prst="rect"/>
          <a:noFill/>
          <a:ln w="12700" cmpd="sng" cap="flat">
            <a:noFill/>
            <a:prstDash val="solid"/>
            <a:miter/>
          </a:ln>
        </p:spPr>
      </p:pic>
      <p:sp>
        <p:nvSpPr>
          <p:cNvPr id="140" name="矩形"/>
          <p:cNvSpPr>
            <a:spLocks/>
          </p:cNvSpPr>
          <p:nvPr/>
        </p:nvSpPr>
        <p:spPr>
          <a:xfrm rot="0">
            <a:off x="6766559" y="3127248"/>
            <a:ext cx="1828800" cy="2743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Unknown / Uncertain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1" name="矩形"/>
          <p:cNvSpPr>
            <a:spLocks/>
          </p:cNvSpPr>
          <p:nvPr/>
        </p:nvSpPr>
        <p:spPr>
          <a:xfrm rot="0">
            <a:off x="6766559" y="3419856"/>
            <a:ext cx="1828800" cy="4572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Evidence insufficient → we abstain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2" name="圆角矩形"/>
          <p:cNvSpPr>
            <a:spLocks/>
          </p:cNvSpPr>
          <p:nvPr/>
        </p:nvSpPr>
        <p:spPr>
          <a:xfrm rot="0">
            <a:off x="457200" y="4114800"/>
            <a:ext cx="8229600" cy="566928"/>
          </a:xfrm>
          <a:prstGeom prst="roundRect">
            <a:avLst>
              <a:gd name="adj" fmla="val 12902"/>
            </a:avLst>
          </a:prstGeom>
          <a:solidFill>
            <a:srgbClr val="FF9933">
              <a:alpha val="15000"/>
            </a:srgbClr>
          </a:solidFill>
          <a:ln w="9525" cmpd="sng" cap="flat">
            <a:solidFill>
              <a:srgbClr val="FF9933"/>
            </a:solidFill>
            <a:prstDash val="solid"/>
            <a:round/>
          </a:ln>
        </p:spPr>
      </p:sp>
      <p:sp>
        <p:nvSpPr>
          <p:cNvPr id="143" name="矩形"/>
          <p:cNvSpPr>
            <a:spLocks/>
          </p:cNvSpPr>
          <p:nvPr/>
        </p:nvSpPr>
        <p:spPr>
          <a:xfrm rot="0">
            <a:off x="640080" y="4114800"/>
            <a:ext cx="7863840" cy="56692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tx1"/>
                </a:solidFill>
                <a:latin typeface="Calibri" pitchFamily="0" charset="0"/>
                <a:ea typeface="等线" pitchFamily="0" charset="0"/>
                <a:cs typeface="Calibri" pitchFamily="0" charset="0"/>
              </a:rPr>
              <a:t>Categories overlap </a:t>
            </a:r>
            <a:r>
              <a:rPr lang="en-US" altLang="zh-CN" sz="1200" b="0" i="0" u="none" strike="noStrike" kern="1200" cap="none" spc="0" baseline="0">
                <a:solidFill>
                  <a:schemeClr val="tx1"/>
                </a:solidFill>
                <a:latin typeface="Calibri" pitchFamily="0" charset="0"/>
                <a:ea typeface="等线" pitchFamily="0" charset="0"/>
                <a:cs typeface="Calibri" pitchFamily="0" charset="0"/>
              </a:rPr>
              <a:t>(a VPN can run on hosting infrastructure). The system estimates a likely category — it never claims identity, location or intent.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4"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3</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343195772"/>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47"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Literature &amp; RFC Review</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8"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Literature &amp; RFC Review</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149" name="圆角矩形"/>
          <p:cNvSpPr>
            <a:spLocks/>
          </p:cNvSpPr>
          <p:nvPr/>
        </p:nvSpPr>
        <p:spPr>
          <a:xfrm rot="0">
            <a:off x="457200" y="1097280"/>
            <a:ext cx="4023359" cy="1298448"/>
          </a:xfrm>
          <a:prstGeom prst="roundRect">
            <a:avLst>
              <a:gd name="adj" fmla="val 5634"/>
            </a:avLst>
          </a:prstGeom>
          <a:solidFill>
            <a:schemeClr val="bg2"/>
          </a:solidFill>
          <a:ln w="6350" cmpd="sng" cap="flat">
            <a:solidFill>
              <a:srgbClr val="EEF2FF"/>
            </a:solidFill>
            <a:prstDash val="solid"/>
            <a:round/>
          </a:ln>
        </p:spPr>
      </p:sp>
      <p:sp>
        <p:nvSpPr>
          <p:cNvPr id="150" name="圆角矩形"/>
          <p:cNvSpPr>
            <a:spLocks/>
          </p:cNvSpPr>
          <p:nvPr/>
        </p:nvSpPr>
        <p:spPr>
          <a:xfrm rot="0">
            <a:off x="594360" y="1216152"/>
            <a:ext cx="1828800" cy="274320"/>
          </a:xfrm>
          <a:prstGeom prst="roundRect">
            <a:avLst>
              <a:gd name="adj" fmla="val 50000"/>
            </a:avLst>
          </a:prstGeom>
          <a:solidFill>
            <a:schemeClr val="accent1"/>
          </a:solidFill>
          <a:ln w="6350" cmpd="sng" cap="flat">
            <a:solidFill>
              <a:srgbClr val="1A3BD8"/>
            </a:solidFill>
            <a:prstDash val="solid"/>
            <a:round/>
          </a:ln>
        </p:spPr>
      </p:sp>
      <p:sp>
        <p:nvSpPr>
          <p:cNvPr id="151" name="矩形"/>
          <p:cNvSpPr>
            <a:spLocks/>
          </p:cNvSpPr>
          <p:nvPr/>
        </p:nvSpPr>
        <p:spPr>
          <a:xfrm rot="0">
            <a:off x="594360" y="1216152"/>
            <a:ext cx="1828800" cy="27432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RFC 1918</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2" name="矩形"/>
          <p:cNvSpPr>
            <a:spLocks/>
          </p:cNvSpPr>
          <p:nvPr/>
        </p:nvSpPr>
        <p:spPr>
          <a:xfrm rot="0">
            <a:off x="2560320" y="1216152"/>
            <a:ext cx="914400" cy="2743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5"/>
                </a:solidFill>
                <a:latin typeface="Calibri" pitchFamily="0" charset="0"/>
                <a:ea typeface="等线" pitchFamily="0" charset="0"/>
                <a:cs typeface="Calibri" pitchFamily="0" charset="0"/>
              </a:rPr>
              <a:t>[1]</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3" name="矩形"/>
          <p:cNvSpPr>
            <a:spLocks/>
          </p:cNvSpPr>
          <p:nvPr/>
        </p:nvSpPr>
        <p:spPr>
          <a:xfrm rot="0">
            <a:off x="594360" y="1600200"/>
            <a:ext cx="3749040" cy="347472"/>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tx2"/>
                </a:solidFill>
                <a:latin typeface="Calibri" pitchFamily="0" charset="0"/>
                <a:ea typeface="等线" pitchFamily="0" charset="0"/>
                <a:cs typeface="Calibri" pitchFamily="0" charset="0"/>
              </a:rPr>
              <a:t>Defines: </a:t>
            </a:r>
            <a:r>
              <a:rPr lang="en-US" altLang="zh-CN" sz="1200" b="0" i="0" u="none" strike="noStrike" kern="1200" cap="none" spc="0" baseline="0">
                <a:solidFill>
                  <a:schemeClr val="tx1"/>
                </a:solidFill>
                <a:latin typeface="Calibri" pitchFamily="0" charset="0"/>
                <a:ea typeface="等线" pitchFamily="0" charset="0"/>
                <a:cs typeface="Calibri" pitchFamily="0" charset="0"/>
              </a:rPr>
              <a:t>Private Internet address ranges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4" name="矩形"/>
          <p:cNvSpPr>
            <a:spLocks/>
          </p:cNvSpPr>
          <p:nvPr/>
        </p:nvSpPr>
        <p:spPr>
          <a:xfrm rot="0">
            <a:off x="594360" y="1947672"/>
            <a:ext cx="3749040" cy="38404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1"/>
                </a:solidFill>
                <a:latin typeface="Calibri" pitchFamily="0" charset="0"/>
                <a:ea typeface="等线" pitchFamily="0" charset="0"/>
                <a:cs typeface="Calibri" pitchFamily="0" charset="0"/>
              </a:rPr>
              <a:t>Our use: </a:t>
            </a:r>
            <a:r>
              <a:rPr lang="en-US" altLang="zh-CN" sz="1200" b="0" i="0" u="none" strike="noStrike" kern="1200" cap="none" spc="0" baseline="0">
                <a:solidFill>
                  <a:schemeClr val="tx1"/>
                </a:solidFill>
                <a:latin typeface="Calibri" pitchFamily="0" charset="0"/>
                <a:ea typeface="等线" pitchFamily="0" charset="0"/>
                <a:cs typeface="Calibri" pitchFamily="0" charset="0"/>
              </a:rPr>
              <a:t>Initial validation and feature-engineering step: flag private space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5" name="圆角矩形"/>
          <p:cNvSpPr>
            <a:spLocks/>
          </p:cNvSpPr>
          <p:nvPr/>
        </p:nvSpPr>
        <p:spPr>
          <a:xfrm rot="0">
            <a:off x="4663440" y="1097280"/>
            <a:ext cx="4023359" cy="1298448"/>
          </a:xfrm>
          <a:prstGeom prst="roundRect">
            <a:avLst>
              <a:gd name="adj" fmla="val 5634"/>
            </a:avLst>
          </a:prstGeom>
          <a:solidFill>
            <a:schemeClr val="bg2"/>
          </a:solidFill>
          <a:ln w="6350" cmpd="sng" cap="flat">
            <a:solidFill>
              <a:srgbClr val="EEF2FF"/>
            </a:solidFill>
            <a:prstDash val="solid"/>
            <a:round/>
          </a:ln>
        </p:spPr>
      </p:sp>
      <p:sp>
        <p:nvSpPr>
          <p:cNvPr id="156" name="圆角矩形"/>
          <p:cNvSpPr>
            <a:spLocks/>
          </p:cNvSpPr>
          <p:nvPr/>
        </p:nvSpPr>
        <p:spPr>
          <a:xfrm rot="0">
            <a:off x="4800600" y="1216152"/>
            <a:ext cx="1828800" cy="274320"/>
          </a:xfrm>
          <a:prstGeom prst="roundRect">
            <a:avLst>
              <a:gd name="adj" fmla="val 50000"/>
            </a:avLst>
          </a:prstGeom>
          <a:solidFill>
            <a:schemeClr val="accent1"/>
          </a:solidFill>
          <a:ln w="6350" cmpd="sng" cap="flat">
            <a:solidFill>
              <a:srgbClr val="1A3BD8"/>
            </a:solidFill>
            <a:prstDash val="solid"/>
            <a:round/>
          </a:ln>
        </p:spPr>
      </p:sp>
      <p:sp>
        <p:nvSpPr>
          <p:cNvPr id="157" name="矩形"/>
          <p:cNvSpPr>
            <a:spLocks/>
          </p:cNvSpPr>
          <p:nvPr/>
        </p:nvSpPr>
        <p:spPr>
          <a:xfrm rot="0">
            <a:off x="4800600" y="1216152"/>
            <a:ext cx="1828800" cy="27432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RFC 6598</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8" name="矩形"/>
          <p:cNvSpPr>
            <a:spLocks/>
          </p:cNvSpPr>
          <p:nvPr/>
        </p:nvSpPr>
        <p:spPr>
          <a:xfrm rot="0">
            <a:off x="6766559" y="1216152"/>
            <a:ext cx="914400" cy="2743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5"/>
                </a:solidFill>
                <a:latin typeface="Calibri" pitchFamily="0" charset="0"/>
                <a:ea typeface="等线" pitchFamily="0" charset="0"/>
                <a:cs typeface="Calibri" pitchFamily="0" charset="0"/>
              </a:rPr>
              <a:t>[2]</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9" name="矩形"/>
          <p:cNvSpPr>
            <a:spLocks/>
          </p:cNvSpPr>
          <p:nvPr/>
        </p:nvSpPr>
        <p:spPr>
          <a:xfrm rot="0">
            <a:off x="4800600" y="1600200"/>
            <a:ext cx="3749039" cy="347472"/>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tx2"/>
                </a:solidFill>
                <a:latin typeface="Calibri" pitchFamily="0" charset="0"/>
                <a:ea typeface="等线" pitchFamily="0" charset="0"/>
                <a:cs typeface="Calibri" pitchFamily="0" charset="0"/>
              </a:rPr>
              <a:t>Defines: </a:t>
            </a:r>
            <a:r>
              <a:rPr lang="en-US" altLang="zh-CN" sz="1200" b="0" i="0" u="none" strike="noStrike" kern="1200" cap="none" spc="0" baseline="0">
                <a:solidFill>
                  <a:schemeClr val="tx1"/>
                </a:solidFill>
                <a:latin typeface="Calibri" pitchFamily="0" charset="0"/>
                <a:ea typeface="等线" pitchFamily="0" charset="0"/>
                <a:cs typeface="Calibri" pitchFamily="0" charset="0"/>
              </a:rPr>
              <a:t>Shared address space for Carrier-Grade NAT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0" name="矩形"/>
          <p:cNvSpPr>
            <a:spLocks/>
          </p:cNvSpPr>
          <p:nvPr/>
        </p:nvSpPr>
        <p:spPr>
          <a:xfrm rot="0">
            <a:off x="4800600" y="1947672"/>
            <a:ext cx="3749039" cy="38404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1"/>
                </a:solidFill>
                <a:latin typeface="Calibri" pitchFamily="0" charset="0"/>
                <a:ea typeface="等线" pitchFamily="0" charset="0"/>
                <a:cs typeface="Calibri" pitchFamily="0" charset="0"/>
              </a:rPr>
              <a:t>Our use: </a:t>
            </a:r>
            <a:r>
              <a:rPr lang="en-US" altLang="zh-CN" sz="1200" b="0" i="0" u="none" strike="noStrike" kern="1200" cap="none" spc="0" baseline="0">
                <a:solidFill>
                  <a:schemeClr val="tx1"/>
                </a:solidFill>
                <a:latin typeface="Calibri" pitchFamily="0" charset="0"/>
                <a:ea typeface="等线" pitchFamily="0" charset="0"/>
                <a:cs typeface="Calibri" pitchFamily="0" charset="0"/>
              </a:rPr>
              <a:t>Never auto-treat CGN space as ordinary residential or hosting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1" name="圆角矩形"/>
          <p:cNvSpPr>
            <a:spLocks/>
          </p:cNvSpPr>
          <p:nvPr/>
        </p:nvSpPr>
        <p:spPr>
          <a:xfrm rot="0">
            <a:off x="457200" y="2514600"/>
            <a:ext cx="4023359" cy="1298448"/>
          </a:xfrm>
          <a:prstGeom prst="roundRect">
            <a:avLst>
              <a:gd name="adj" fmla="val 5634"/>
            </a:avLst>
          </a:prstGeom>
          <a:solidFill>
            <a:schemeClr val="bg2"/>
          </a:solidFill>
          <a:ln w="6350" cmpd="sng" cap="flat">
            <a:solidFill>
              <a:srgbClr val="EEF2FF"/>
            </a:solidFill>
            <a:prstDash val="solid"/>
            <a:round/>
          </a:ln>
        </p:spPr>
      </p:sp>
      <p:sp>
        <p:nvSpPr>
          <p:cNvPr id="162" name="圆角矩形"/>
          <p:cNvSpPr>
            <a:spLocks/>
          </p:cNvSpPr>
          <p:nvPr/>
        </p:nvSpPr>
        <p:spPr>
          <a:xfrm rot="0">
            <a:off x="594360" y="2633472"/>
            <a:ext cx="1828800" cy="274320"/>
          </a:xfrm>
          <a:prstGeom prst="roundRect">
            <a:avLst>
              <a:gd name="adj" fmla="val 50000"/>
            </a:avLst>
          </a:prstGeom>
          <a:solidFill>
            <a:schemeClr val="accent1"/>
          </a:solidFill>
          <a:ln w="6350" cmpd="sng" cap="flat">
            <a:solidFill>
              <a:srgbClr val="1A3BD8"/>
            </a:solidFill>
            <a:prstDash val="solid"/>
            <a:round/>
          </a:ln>
        </p:spPr>
      </p:sp>
      <p:sp>
        <p:nvSpPr>
          <p:cNvPr id="163" name="矩形"/>
          <p:cNvSpPr>
            <a:spLocks/>
          </p:cNvSpPr>
          <p:nvPr/>
        </p:nvSpPr>
        <p:spPr>
          <a:xfrm rot="0">
            <a:off x="594360" y="2633472"/>
            <a:ext cx="1828800" cy="27432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RFC 6890 + IANA</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4" name="矩形"/>
          <p:cNvSpPr>
            <a:spLocks/>
          </p:cNvSpPr>
          <p:nvPr/>
        </p:nvSpPr>
        <p:spPr>
          <a:xfrm rot="0">
            <a:off x="2560320" y="2633472"/>
            <a:ext cx="914400" cy="2743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5"/>
                </a:solidFill>
                <a:latin typeface="Calibri" pitchFamily="0" charset="0"/>
                <a:ea typeface="等线" pitchFamily="0" charset="0"/>
                <a:cs typeface="Calibri" pitchFamily="0" charset="0"/>
              </a:rPr>
              <a:t>[3, 4]</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5" name="矩形"/>
          <p:cNvSpPr>
            <a:spLocks/>
          </p:cNvSpPr>
          <p:nvPr/>
        </p:nvSpPr>
        <p:spPr>
          <a:xfrm rot="0">
            <a:off x="594360" y="3017519"/>
            <a:ext cx="3749040" cy="347472"/>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tx2"/>
                </a:solidFill>
                <a:latin typeface="Calibri" pitchFamily="0" charset="0"/>
                <a:ea typeface="等线" pitchFamily="0" charset="0"/>
                <a:cs typeface="Calibri" pitchFamily="0" charset="0"/>
              </a:rPr>
              <a:t>Defines: </a:t>
            </a:r>
            <a:r>
              <a:rPr lang="en-US" altLang="zh-CN" sz="1200" b="0" i="0" u="none" strike="noStrike" kern="1200" cap="none" spc="0" baseline="0">
                <a:solidFill>
                  <a:schemeClr val="tx1"/>
                </a:solidFill>
                <a:latin typeface="Calibri" pitchFamily="0" charset="0"/>
                <a:ea typeface="等线" pitchFamily="0" charset="0"/>
                <a:cs typeface="Calibri" pitchFamily="0" charset="0"/>
              </a:rPr>
              <a:t>Special-purpose registries: forwardability, reachability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6" name="矩形"/>
          <p:cNvSpPr>
            <a:spLocks/>
          </p:cNvSpPr>
          <p:nvPr/>
        </p:nvSpPr>
        <p:spPr>
          <a:xfrm rot="0">
            <a:off x="594360" y="3364992"/>
            <a:ext cx="3749040" cy="38404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1"/>
                </a:solidFill>
                <a:latin typeface="Calibri" pitchFamily="0" charset="0"/>
                <a:ea typeface="等线" pitchFamily="0" charset="0"/>
                <a:cs typeface="Calibri" pitchFamily="0" charset="0"/>
              </a:rPr>
              <a:t>Our use: </a:t>
            </a:r>
            <a:r>
              <a:rPr lang="en-US" altLang="zh-CN" sz="1200" b="0" i="0" u="none" strike="noStrike" kern="1200" cap="none" spc="0" baseline="0">
                <a:solidFill>
                  <a:schemeClr val="tx1"/>
                </a:solidFill>
                <a:latin typeface="Calibri" pitchFamily="0" charset="0"/>
                <a:ea typeface="等线" pitchFamily="0" charset="0"/>
                <a:cs typeface="Calibri" pitchFamily="0" charset="0"/>
              </a:rPr>
              <a:t>Rule-based checks for reserved and special-purpose addresses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7" name="圆角矩形"/>
          <p:cNvSpPr>
            <a:spLocks/>
          </p:cNvSpPr>
          <p:nvPr/>
        </p:nvSpPr>
        <p:spPr>
          <a:xfrm rot="0">
            <a:off x="4663440" y="2514600"/>
            <a:ext cx="4023359" cy="1298448"/>
          </a:xfrm>
          <a:prstGeom prst="roundRect">
            <a:avLst>
              <a:gd name="adj" fmla="val 5634"/>
            </a:avLst>
          </a:prstGeom>
          <a:solidFill>
            <a:schemeClr val="bg2"/>
          </a:solidFill>
          <a:ln w="6350" cmpd="sng" cap="flat">
            <a:solidFill>
              <a:srgbClr val="EEF2FF"/>
            </a:solidFill>
            <a:prstDash val="solid"/>
            <a:round/>
          </a:ln>
        </p:spPr>
      </p:sp>
      <p:sp>
        <p:nvSpPr>
          <p:cNvPr id="168" name="圆角矩形"/>
          <p:cNvSpPr>
            <a:spLocks/>
          </p:cNvSpPr>
          <p:nvPr/>
        </p:nvSpPr>
        <p:spPr>
          <a:xfrm rot="0">
            <a:off x="4800600" y="2633472"/>
            <a:ext cx="1828800" cy="274320"/>
          </a:xfrm>
          <a:prstGeom prst="roundRect">
            <a:avLst>
              <a:gd name="adj" fmla="val 50000"/>
            </a:avLst>
          </a:prstGeom>
          <a:solidFill>
            <a:schemeClr val="accent1"/>
          </a:solidFill>
          <a:ln w="6350" cmpd="sng" cap="flat">
            <a:solidFill>
              <a:srgbClr val="1A3BD8"/>
            </a:solidFill>
            <a:prstDash val="solid"/>
            <a:round/>
          </a:ln>
        </p:spPr>
      </p:sp>
      <p:sp>
        <p:nvSpPr>
          <p:cNvPr id="169" name="矩形"/>
          <p:cNvSpPr>
            <a:spLocks/>
          </p:cNvSpPr>
          <p:nvPr/>
        </p:nvSpPr>
        <p:spPr>
          <a:xfrm rot="0">
            <a:off x="4800600" y="2633472"/>
            <a:ext cx="1828800" cy="274320"/>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MaxMind Anonymous IP</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0" name="矩形"/>
          <p:cNvSpPr>
            <a:spLocks/>
          </p:cNvSpPr>
          <p:nvPr/>
        </p:nvSpPr>
        <p:spPr>
          <a:xfrm rot="0">
            <a:off x="6766559" y="2633472"/>
            <a:ext cx="914400" cy="2743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5"/>
                </a:solidFill>
                <a:latin typeface="Calibri" pitchFamily="0" charset="0"/>
                <a:ea typeface="等线" pitchFamily="0" charset="0"/>
                <a:cs typeface="Calibri" pitchFamily="0" charset="0"/>
              </a:rPr>
              <a:t>[5, 6]</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1" name="矩形"/>
          <p:cNvSpPr>
            <a:spLocks/>
          </p:cNvSpPr>
          <p:nvPr/>
        </p:nvSpPr>
        <p:spPr>
          <a:xfrm rot="0">
            <a:off x="4800600" y="3017519"/>
            <a:ext cx="3749039" cy="347472"/>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tx2"/>
                </a:solidFill>
                <a:latin typeface="Calibri" pitchFamily="0" charset="0"/>
                <a:ea typeface="等线" pitchFamily="0" charset="0"/>
                <a:cs typeface="Calibri" pitchFamily="0" charset="0"/>
              </a:rPr>
              <a:t>Defines: </a:t>
            </a:r>
            <a:r>
              <a:rPr lang="en-US" altLang="zh-CN" sz="1200" b="0" i="0" u="none" strike="noStrike" kern="1200" cap="none" spc="0" baseline="0">
                <a:solidFill>
                  <a:schemeClr val="tx1"/>
                </a:solidFill>
                <a:latin typeface="Calibri" pitchFamily="0" charset="0"/>
                <a:ea typeface="等线" pitchFamily="0" charset="0"/>
                <a:cs typeface="Calibri" pitchFamily="0" charset="0"/>
              </a:rPr>
              <a:t>Indicators for VPNs, proxies, hosting, Tor exits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2" name="矩形"/>
          <p:cNvSpPr>
            <a:spLocks/>
          </p:cNvSpPr>
          <p:nvPr/>
        </p:nvSpPr>
        <p:spPr>
          <a:xfrm rot="0">
            <a:off x="4800600" y="3364992"/>
            <a:ext cx="3749039" cy="38404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1"/>
                </a:solidFill>
                <a:latin typeface="Calibri" pitchFamily="0" charset="0"/>
                <a:ea typeface="等线" pitchFamily="0" charset="0"/>
                <a:cs typeface="Calibri" pitchFamily="0" charset="0"/>
              </a:rPr>
              <a:t>Our use: </a:t>
            </a:r>
            <a:r>
              <a:rPr lang="en-US" altLang="zh-CN" sz="1200" b="0" i="0" u="none" strike="noStrike" kern="1200" cap="none" spc="0" baseline="0">
                <a:solidFill>
                  <a:schemeClr val="tx1"/>
                </a:solidFill>
                <a:latin typeface="Calibri" pitchFamily="0" charset="0"/>
                <a:ea typeface="等线" pitchFamily="0" charset="0"/>
                <a:cs typeface="Calibri" pitchFamily="0" charset="0"/>
              </a:rPr>
              <a:t>Evidence for labels; licensing checked before any use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3" name="圆角矩形"/>
          <p:cNvSpPr>
            <a:spLocks/>
          </p:cNvSpPr>
          <p:nvPr/>
        </p:nvSpPr>
        <p:spPr>
          <a:xfrm rot="0">
            <a:off x="457200" y="3977640"/>
            <a:ext cx="8229600" cy="731520"/>
          </a:xfrm>
          <a:prstGeom prst="roundRect">
            <a:avLst>
              <a:gd name="adj" fmla="val 10000"/>
            </a:avLst>
          </a:prstGeom>
          <a:solidFill>
            <a:schemeClr val="tx2"/>
          </a:solidFill>
          <a:ln w="6350" cmpd="sng" cap="flat">
            <a:solidFill>
              <a:srgbClr val="0A1F6B"/>
            </a:solidFill>
            <a:prstDash val="solid"/>
            <a:round/>
          </a:ln>
        </p:spPr>
      </p:sp>
      <p:sp>
        <p:nvSpPr>
          <p:cNvPr id="174" name="矩形"/>
          <p:cNvSpPr>
            <a:spLocks/>
          </p:cNvSpPr>
          <p:nvPr/>
        </p:nvSpPr>
        <p:spPr>
          <a:xfrm rot="0">
            <a:off x="640080" y="3977640"/>
            <a:ext cx="7863840" cy="73152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Research gap  </a:t>
            </a:r>
            <a:r>
              <a:rPr lang="en-US" altLang="zh-CN" sz="1200" b="0" i="0" u="none" strike="noStrike" kern="1200" cap="none" spc="0" baseline="0">
                <a:solidFill>
                  <a:schemeClr val="bg1"/>
                </a:solidFill>
                <a:latin typeface="Calibri" pitchFamily="0" charset="0"/>
                <a:ea typeface="等线" pitchFamily="0" charset="0"/>
                <a:cs typeface="Calibri" pitchFamily="0" charset="0"/>
              </a:rPr>
              <a:t>Registries and intelligence databases give valuable rules and labels, but coverage, freshness and category overlap remain open. We test whether carefully prepared features enable consistent ML classification — measured on held-out data.</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5"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4</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684423198"/>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178"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Proposed Solution</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9"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Proposed Solution</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180" name="圆角矩形"/>
          <p:cNvSpPr>
            <a:spLocks/>
          </p:cNvSpPr>
          <p:nvPr/>
        </p:nvSpPr>
        <p:spPr>
          <a:xfrm rot="0">
            <a:off x="457200" y="1097280"/>
            <a:ext cx="8229600" cy="548640"/>
          </a:xfrm>
          <a:prstGeom prst="roundRect">
            <a:avLst>
              <a:gd name="adj" fmla="val 13333"/>
            </a:avLst>
          </a:prstGeom>
          <a:solidFill>
            <a:schemeClr val="bg2"/>
          </a:solidFill>
          <a:ln w="6350" cmpd="sng" cap="flat">
            <a:solidFill>
              <a:srgbClr val="EEF2FF"/>
            </a:solidFill>
            <a:prstDash val="solid"/>
            <a:round/>
          </a:ln>
        </p:spPr>
      </p:sp>
      <p:sp>
        <p:nvSpPr>
          <p:cNvPr id="181" name="椭圆"/>
          <p:cNvSpPr>
            <a:spLocks/>
          </p:cNvSpPr>
          <p:nvPr/>
        </p:nvSpPr>
        <p:spPr>
          <a:xfrm rot="0">
            <a:off x="566928" y="1179576"/>
            <a:ext cx="384048" cy="384048"/>
          </a:xfrm>
          <a:prstGeom prst="ellipse"/>
          <a:solidFill>
            <a:srgbClr val="1A3BD8"/>
          </a:solidFill>
          <a:ln w="6350" cmpd="sng" cap="flat">
            <a:solidFill>
              <a:srgbClr val="1A3BD8"/>
            </a:solidFill>
            <a:prstDash val="solid"/>
            <a:round/>
          </a:ln>
        </p:spPr>
      </p:sp>
      <p:pic>
        <p:nvPicPr>
          <p:cNvPr id="182" name="图片" descr="preencoded.png"/>
          <p:cNvPicPr>
            <a:picLocks noChangeAspect="1"/>
          </p:cNvPicPr>
          <p:nvPr/>
        </p:nvPicPr>
        <p:blipFill>
          <a:blip r:embed="rId1" cstate="print"/>
          <a:stretch>
            <a:fillRect/>
          </a:stretch>
        </p:blipFill>
        <p:spPr>
          <a:xfrm rot="0">
            <a:off x="662940" y="1275588"/>
            <a:ext cx="192024" cy="192024"/>
          </a:xfrm>
          <a:prstGeom prst="rect"/>
          <a:noFill/>
          <a:ln w="12700" cmpd="sng" cap="flat">
            <a:noFill/>
            <a:prstDash val="solid"/>
            <a:miter/>
          </a:ln>
        </p:spPr>
      </p:pic>
      <p:sp>
        <p:nvSpPr>
          <p:cNvPr id="183" name="矩形"/>
          <p:cNvSpPr>
            <a:spLocks/>
          </p:cNvSpPr>
          <p:nvPr/>
        </p:nvSpPr>
        <p:spPr>
          <a:xfrm rot="0">
            <a:off x="1097280" y="1097280"/>
            <a:ext cx="210312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1.  Data Acquisition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4" name="矩形"/>
          <p:cNvSpPr>
            <a:spLocks/>
          </p:cNvSpPr>
          <p:nvPr/>
        </p:nvSpPr>
        <p:spPr>
          <a:xfrm rot="0">
            <a:off x="3246120" y="1097280"/>
            <a:ext cx="534923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Collect from reliable, permitted sources — IANA registries, licensed network datasets, network metadata — vetted for relevance, coverage, freshness and licensing.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5" name="圆角矩形"/>
          <p:cNvSpPr>
            <a:spLocks/>
          </p:cNvSpPr>
          <p:nvPr/>
        </p:nvSpPr>
        <p:spPr>
          <a:xfrm rot="0">
            <a:off x="457200" y="1719072"/>
            <a:ext cx="8229600" cy="548640"/>
          </a:xfrm>
          <a:prstGeom prst="roundRect">
            <a:avLst>
              <a:gd name="adj" fmla="val 13333"/>
            </a:avLst>
          </a:prstGeom>
          <a:solidFill>
            <a:schemeClr val="bg2"/>
          </a:solidFill>
          <a:ln w="6350" cmpd="sng" cap="flat">
            <a:solidFill>
              <a:srgbClr val="EEF2FF"/>
            </a:solidFill>
            <a:prstDash val="solid"/>
            <a:round/>
          </a:ln>
        </p:spPr>
      </p:sp>
      <p:sp>
        <p:nvSpPr>
          <p:cNvPr id="186" name="椭圆"/>
          <p:cNvSpPr>
            <a:spLocks/>
          </p:cNvSpPr>
          <p:nvPr/>
        </p:nvSpPr>
        <p:spPr>
          <a:xfrm rot="0">
            <a:off x="566928" y="1801368"/>
            <a:ext cx="384048" cy="384048"/>
          </a:xfrm>
          <a:prstGeom prst="ellipse"/>
          <a:solidFill>
            <a:srgbClr val="1A3BD8"/>
          </a:solidFill>
          <a:ln w="6350" cmpd="sng" cap="flat">
            <a:solidFill>
              <a:srgbClr val="1A3BD8"/>
            </a:solidFill>
            <a:prstDash val="solid"/>
            <a:round/>
          </a:ln>
        </p:spPr>
      </p:sp>
      <p:pic>
        <p:nvPicPr>
          <p:cNvPr id="187" name="图片" descr="preencoded.png"/>
          <p:cNvPicPr>
            <a:picLocks noChangeAspect="1"/>
          </p:cNvPicPr>
          <p:nvPr/>
        </p:nvPicPr>
        <p:blipFill>
          <a:blip r:embed="rId2" cstate="print"/>
          <a:stretch>
            <a:fillRect/>
          </a:stretch>
        </p:blipFill>
        <p:spPr>
          <a:xfrm rot="0">
            <a:off x="662940" y="1897380"/>
            <a:ext cx="192024" cy="192024"/>
          </a:xfrm>
          <a:prstGeom prst="rect"/>
          <a:noFill/>
          <a:ln w="12700" cmpd="sng" cap="flat">
            <a:noFill/>
            <a:prstDash val="solid"/>
            <a:miter/>
          </a:ln>
        </p:spPr>
      </p:pic>
      <p:sp>
        <p:nvSpPr>
          <p:cNvPr id="188" name="矩形"/>
          <p:cNvSpPr>
            <a:spLocks/>
          </p:cNvSpPr>
          <p:nvPr/>
        </p:nvSpPr>
        <p:spPr>
          <a:xfrm rot="0">
            <a:off x="1097280" y="1719072"/>
            <a:ext cx="210312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2.  Preprocessing &amp; Engineering</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89" name="矩形"/>
          <p:cNvSpPr>
            <a:spLocks/>
          </p:cNvSpPr>
          <p:nvPr/>
        </p:nvSpPr>
        <p:spPr>
          <a:xfrm rot="0">
            <a:off x="3246120" y="1719072"/>
            <a:ext cx="534923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Deduplicate, validate IPs and prefixes, handle missing values, standardise formats, check label consistency, then build structured features.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0" name="圆角矩形"/>
          <p:cNvSpPr>
            <a:spLocks/>
          </p:cNvSpPr>
          <p:nvPr/>
        </p:nvSpPr>
        <p:spPr>
          <a:xfrm rot="0">
            <a:off x="457200" y="2340864"/>
            <a:ext cx="8229600" cy="548640"/>
          </a:xfrm>
          <a:prstGeom prst="roundRect">
            <a:avLst>
              <a:gd name="adj" fmla="val 13333"/>
            </a:avLst>
          </a:prstGeom>
          <a:solidFill>
            <a:schemeClr val="bg2"/>
          </a:solidFill>
          <a:ln w="6350" cmpd="sng" cap="flat">
            <a:solidFill>
              <a:srgbClr val="EEF2FF"/>
            </a:solidFill>
            <a:prstDash val="solid"/>
            <a:round/>
          </a:ln>
        </p:spPr>
      </p:sp>
      <p:sp>
        <p:nvSpPr>
          <p:cNvPr id="191" name="椭圆"/>
          <p:cNvSpPr>
            <a:spLocks/>
          </p:cNvSpPr>
          <p:nvPr/>
        </p:nvSpPr>
        <p:spPr>
          <a:xfrm rot="0">
            <a:off x="566928" y="2423160"/>
            <a:ext cx="384048" cy="384047"/>
          </a:xfrm>
          <a:prstGeom prst="ellipse"/>
          <a:solidFill>
            <a:srgbClr val="1A3BD8"/>
          </a:solidFill>
          <a:ln w="6350" cmpd="sng" cap="flat">
            <a:solidFill>
              <a:srgbClr val="1A3BD8"/>
            </a:solidFill>
            <a:prstDash val="solid"/>
            <a:round/>
          </a:ln>
        </p:spPr>
      </p:sp>
      <p:pic>
        <p:nvPicPr>
          <p:cNvPr id="192" name="图片" descr="preencoded.png"/>
          <p:cNvPicPr>
            <a:picLocks noChangeAspect="1"/>
          </p:cNvPicPr>
          <p:nvPr/>
        </p:nvPicPr>
        <p:blipFill>
          <a:blip r:embed="rId3" cstate="print"/>
          <a:stretch>
            <a:fillRect/>
          </a:stretch>
        </p:blipFill>
        <p:spPr>
          <a:xfrm rot="0">
            <a:off x="662940" y="2519172"/>
            <a:ext cx="192024" cy="192024"/>
          </a:xfrm>
          <a:prstGeom prst="rect"/>
          <a:noFill/>
          <a:ln w="12700" cmpd="sng" cap="flat">
            <a:noFill/>
            <a:prstDash val="solid"/>
            <a:miter/>
          </a:ln>
        </p:spPr>
      </p:pic>
      <p:sp>
        <p:nvSpPr>
          <p:cNvPr id="193" name="矩形"/>
          <p:cNvSpPr>
            <a:spLocks/>
          </p:cNvSpPr>
          <p:nvPr/>
        </p:nvSpPr>
        <p:spPr>
          <a:xfrm rot="0">
            <a:off x="1097280" y="2340864"/>
            <a:ext cx="210312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3.  Feature Selection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4" name="矩形"/>
          <p:cNvSpPr>
            <a:spLocks/>
          </p:cNvSpPr>
          <p:nvPr/>
        </p:nvSpPr>
        <p:spPr>
          <a:xfrm rot="0">
            <a:off x="3246120" y="2340864"/>
            <a:ext cx="534923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IP version, prefix info, ASN / organisation category, special-purpose flags, documented VPN / proxy / hosting / Tor indicators. Nothing unavailable at prediction time.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5" name="圆角矩形"/>
          <p:cNvSpPr>
            <a:spLocks/>
          </p:cNvSpPr>
          <p:nvPr/>
        </p:nvSpPr>
        <p:spPr>
          <a:xfrm rot="0">
            <a:off x="457200" y="2962656"/>
            <a:ext cx="8229600" cy="548640"/>
          </a:xfrm>
          <a:prstGeom prst="roundRect">
            <a:avLst>
              <a:gd name="adj" fmla="val 13333"/>
            </a:avLst>
          </a:prstGeom>
          <a:solidFill>
            <a:schemeClr val="bg2"/>
          </a:solidFill>
          <a:ln w="6350" cmpd="sng" cap="flat">
            <a:solidFill>
              <a:srgbClr val="EEF2FF"/>
            </a:solidFill>
            <a:prstDash val="solid"/>
            <a:round/>
          </a:ln>
        </p:spPr>
      </p:sp>
      <p:sp>
        <p:nvSpPr>
          <p:cNvPr id="196" name="椭圆"/>
          <p:cNvSpPr>
            <a:spLocks/>
          </p:cNvSpPr>
          <p:nvPr/>
        </p:nvSpPr>
        <p:spPr>
          <a:xfrm rot="0">
            <a:off x="566928" y="3044952"/>
            <a:ext cx="384048" cy="384048"/>
          </a:xfrm>
          <a:prstGeom prst="ellipse"/>
          <a:solidFill>
            <a:srgbClr val="1A3BD8"/>
          </a:solidFill>
          <a:ln w="6350" cmpd="sng" cap="flat">
            <a:solidFill>
              <a:srgbClr val="1A3BD8"/>
            </a:solidFill>
            <a:prstDash val="solid"/>
            <a:round/>
          </a:ln>
        </p:spPr>
      </p:sp>
      <p:pic>
        <p:nvPicPr>
          <p:cNvPr id="197" name="图片" descr="preencoded.png"/>
          <p:cNvPicPr>
            <a:picLocks noChangeAspect="1"/>
          </p:cNvPicPr>
          <p:nvPr/>
        </p:nvPicPr>
        <p:blipFill>
          <a:blip r:embed="rId4" cstate="print"/>
          <a:stretch>
            <a:fillRect/>
          </a:stretch>
        </p:blipFill>
        <p:spPr>
          <a:xfrm rot="0">
            <a:off x="662940" y="3140964"/>
            <a:ext cx="192024" cy="192024"/>
          </a:xfrm>
          <a:prstGeom prst="rect"/>
          <a:noFill/>
          <a:ln w="12700" cmpd="sng" cap="flat">
            <a:noFill/>
            <a:prstDash val="solid"/>
            <a:miter/>
          </a:ln>
        </p:spPr>
      </p:pic>
      <p:sp>
        <p:nvSpPr>
          <p:cNvPr id="198" name="矩形"/>
          <p:cNvSpPr>
            <a:spLocks/>
          </p:cNvSpPr>
          <p:nvPr/>
        </p:nvSpPr>
        <p:spPr>
          <a:xfrm rot="0">
            <a:off x="1097280" y="2962656"/>
            <a:ext cx="210312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4.  Model Development</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99" name="矩形"/>
          <p:cNvSpPr>
            <a:spLocks/>
          </p:cNvSpPr>
          <p:nvPr/>
        </p:nvSpPr>
        <p:spPr>
          <a:xfrm rot="0">
            <a:off x="3246120" y="2962656"/>
            <a:ext cx="534923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Start with a simple baseline (decision tree, random forest), compare stronger models, choose on measured performance and reliability.</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0" name="圆角矩形"/>
          <p:cNvSpPr>
            <a:spLocks/>
          </p:cNvSpPr>
          <p:nvPr/>
        </p:nvSpPr>
        <p:spPr>
          <a:xfrm rot="0">
            <a:off x="457200" y="3584448"/>
            <a:ext cx="8229600" cy="548640"/>
          </a:xfrm>
          <a:prstGeom prst="roundRect">
            <a:avLst>
              <a:gd name="adj" fmla="val 13333"/>
            </a:avLst>
          </a:prstGeom>
          <a:solidFill>
            <a:schemeClr val="bg2"/>
          </a:solidFill>
          <a:ln w="6350" cmpd="sng" cap="flat">
            <a:solidFill>
              <a:srgbClr val="EEF2FF"/>
            </a:solidFill>
            <a:prstDash val="solid"/>
            <a:round/>
          </a:ln>
        </p:spPr>
      </p:sp>
      <p:sp>
        <p:nvSpPr>
          <p:cNvPr id="201" name="椭圆"/>
          <p:cNvSpPr>
            <a:spLocks/>
          </p:cNvSpPr>
          <p:nvPr/>
        </p:nvSpPr>
        <p:spPr>
          <a:xfrm rot="0">
            <a:off x="566928" y="3666744"/>
            <a:ext cx="384048" cy="384048"/>
          </a:xfrm>
          <a:prstGeom prst="ellipse"/>
          <a:solidFill>
            <a:srgbClr val="1A3BD8"/>
          </a:solidFill>
          <a:ln w="6350" cmpd="sng" cap="flat">
            <a:solidFill>
              <a:srgbClr val="1A3BD8"/>
            </a:solidFill>
            <a:prstDash val="solid"/>
            <a:round/>
          </a:ln>
        </p:spPr>
      </p:sp>
      <p:pic>
        <p:nvPicPr>
          <p:cNvPr id="202" name="图片" descr="preencoded.png"/>
          <p:cNvPicPr>
            <a:picLocks noChangeAspect="1"/>
          </p:cNvPicPr>
          <p:nvPr/>
        </p:nvPicPr>
        <p:blipFill>
          <a:blip r:embed="rId5" cstate="print"/>
          <a:stretch>
            <a:fillRect/>
          </a:stretch>
        </p:blipFill>
        <p:spPr>
          <a:xfrm rot="0">
            <a:off x="662940" y="3762756"/>
            <a:ext cx="192024" cy="192024"/>
          </a:xfrm>
          <a:prstGeom prst="rect"/>
          <a:noFill/>
          <a:ln w="12700" cmpd="sng" cap="flat">
            <a:noFill/>
            <a:prstDash val="solid"/>
            <a:miter/>
          </a:ln>
        </p:spPr>
      </p:pic>
      <p:sp>
        <p:nvSpPr>
          <p:cNvPr id="203" name="矩形"/>
          <p:cNvSpPr>
            <a:spLocks/>
          </p:cNvSpPr>
          <p:nvPr/>
        </p:nvSpPr>
        <p:spPr>
          <a:xfrm rot="0">
            <a:off x="1097280" y="3584448"/>
            <a:ext cx="2103120"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5.  Evaluation &amp; Prediction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4" name="矩形"/>
          <p:cNvSpPr>
            <a:spLocks/>
          </p:cNvSpPr>
          <p:nvPr/>
        </p:nvSpPr>
        <p:spPr>
          <a:xfrm rot="0">
            <a:off x="3246120" y="3584448"/>
            <a:ext cx="5349239" cy="54864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tx1"/>
                </a:solidFill>
                <a:latin typeface="Calibri" pitchFamily="0" charset="0"/>
                <a:ea typeface="等线" pitchFamily="0" charset="0"/>
                <a:cs typeface="Calibri" pitchFamily="0" charset="0"/>
              </a:rPr>
              <a:t>Precision, recall, F1 and confusion matrix on held-out data. Output: category + confidence; weakly supported cases are marked Uncertain.</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5" name="圆角矩形"/>
          <p:cNvSpPr>
            <a:spLocks/>
          </p:cNvSpPr>
          <p:nvPr/>
        </p:nvSpPr>
        <p:spPr>
          <a:xfrm rot="0">
            <a:off x="457200" y="4251960"/>
            <a:ext cx="8229600" cy="457200"/>
          </a:xfrm>
          <a:prstGeom prst="roundRect">
            <a:avLst>
              <a:gd name="adj" fmla="val 16000"/>
            </a:avLst>
          </a:prstGeom>
          <a:solidFill>
            <a:schemeClr val="tx2"/>
          </a:solidFill>
          <a:ln w="6350" cmpd="sng" cap="flat">
            <a:solidFill>
              <a:srgbClr val="0A1F6B"/>
            </a:solidFill>
            <a:prstDash val="solid"/>
            <a:round/>
          </a:ln>
        </p:spPr>
      </p:sp>
      <p:sp>
        <p:nvSpPr>
          <p:cNvPr id="206" name="矩形"/>
          <p:cNvSpPr>
            <a:spLocks/>
          </p:cNvSpPr>
          <p:nvPr/>
        </p:nvSpPr>
        <p:spPr>
          <a:xfrm rot="0">
            <a:off x="640080" y="4251960"/>
            <a:ext cx="7863840" cy="45720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Expected outcome  </a:t>
            </a:r>
            <a:r>
              <a:rPr lang="en-US" altLang="zh-CN" sz="1200" b="0" i="0" u="none" strike="noStrike" kern="1200" cap="none" spc="0" baseline="0">
                <a:solidFill>
                  <a:schemeClr val="bg1"/>
                </a:solidFill>
                <a:latin typeface="Calibri" pitchFamily="0" charset="0"/>
                <a:ea typeface="等线" pitchFamily="0" charset="0"/>
                <a:cs typeface="Calibri" pitchFamily="0" charset="0"/>
              </a:rPr>
              <a:t>A reproducible pipeline: IP or feature record in → likely network category, evidence and uncertainty out.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7"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5</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205726197"/>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31"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Architecture Design (UML Diagram)</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2"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Solution Architecture &amp; Design</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233" name="圆角矩形"/>
          <p:cNvSpPr>
            <a:spLocks/>
          </p:cNvSpPr>
          <p:nvPr/>
        </p:nvSpPr>
        <p:spPr>
          <a:xfrm rot="0">
            <a:off x="365760" y="1097280"/>
            <a:ext cx="8412480" cy="1417320"/>
          </a:xfrm>
          <a:prstGeom prst="roundRect">
            <a:avLst>
              <a:gd name="adj" fmla="val 5162"/>
            </a:avLst>
          </a:prstGeom>
          <a:solidFill>
            <a:schemeClr val="bg2"/>
          </a:solidFill>
          <a:ln w="6350" cmpd="sng" cap="flat">
            <a:solidFill>
              <a:srgbClr val="EEF2FF"/>
            </a:solidFill>
            <a:prstDash val="solid"/>
            <a:round/>
          </a:ln>
        </p:spPr>
      </p:sp>
      <p:sp>
        <p:nvSpPr>
          <p:cNvPr id="234" name="圆角矩形"/>
          <p:cNvSpPr>
            <a:spLocks/>
          </p:cNvSpPr>
          <p:nvPr/>
        </p:nvSpPr>
        <p:spPr>
          <a:xfrm rot="0">
            <a:off x="365760" y="2834640"/>
            <a:ext cx="8412480" cy="1417320"/>
          </a:xfrm>
          <a:prstGeom prst="roundRect">
            <a:avLst>
              <a:gd name="adj" fmla="val 5162"/>
            </a:avLst>
          </a:prstGeom>
          <a:solidFill>
            <a:srgbClr val="FF9933">
              <a:alpha val="12000"/>
            </a:srgbClr>
          </a:solidFill>
          <a:ln w="6350" cmpd="sng" cap="flat">
            <a:solidFill>
              <a:srgbClr val="FF9933"/>
            </a:solidFill>
            <a:prstDash val="solid"/>
            <a:round/>
          </a:ln>
        </p:spPr>
      </p:sp>
      <p:sp>
        <p:nvSpPr>
          <p:cNvPr id="235" name="矩形"/>
          <p:cNvSpPr>
            <a:spLocks/>
          </p:cNvSpPr>
          <p:nvPr/>
        </p:nvSpPr>
        <p:spPr>
          <a:xfrm rot="0">
            <a:off x="502919" y="1133856"/>
            <a:ext cx="5486400" cy="20116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TEAM MEMBER 1  ·  DATA ACQUISITION &amp; ENGINEERING</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6" name="矩形"/>
          <p:cNvSpPr>
            <a:spLocks/>
          </p:cNvSpPr>
          <p:nvPr/>
        </p:nvSpPr>
        <p:spPr>
          <a:xfrm rot="0">
            <a:off x="502919" y="2871216"/>
            <a:ext cx="5486400" cy="20116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B45309"/>
                </a:solidFill>
                <a:latin typeface="Calibri" pitchFamily="0" charset="0"/>
                <a:ea typeface="等线" pitchFamily="0" charset="0"/>
                <a:cs typeface="Calibri" pitchFamily="0" charset="0"/>
              </a:rPr>
              <a:t>TEAM MEMBER 2  ·  ML MODEL DEVELOPMENT &amp; TRAINING</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7" name="圆角矩形"/>
          <p:cNvSpPr>
            <a:spLocks/>
          </p:cNvSpPr>
          <p:nvPr/>
        </p:nvSpPr>
        <p:spPr>
          <a:xfrm rot="0">
            <a:off x="502919" y="1371600"/>
            <a:ext cx="1828800" cy="868680"/>
          </a:xfrm>
          <a:prstGeom prst="roundRect">
            <a:avLst>
              <a:gd name="adj" fmla="val 8421"/>
            </a:avLst>
          </a:prstGeom>
          <a:solidFill>
            <a:schemeClr val="bg1"/>
          </a:solidFill>
          <a:ln w="19050" cmpd="sng" cap="flat">
            <a:solidFill>
              <a:srgbClr val="1A3BD8"/>
            </a:solidFill>
            <a:prstDash val="solid"/>
            <a:round/>
          </a:ln>
        </p:spPr>
      </p:sp>
      <p:sp>
        <p:nvSpPr>
          <p:cNvPr id="238" name="矩形"/>
          <p:cNvSpPr>
            <a:spLocks/>
          </p:cNvSpPr>
          <p:nvPr/>
        </p:nvSpPr>
        <p:spPr>
          <a:xfrm rot="0">
            <a:off x="594360" y="1444752"/>
            <a:ext cx="1645920"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Reliable Sources</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39" name="矩形"/>
          <p:cNvSpPr>
            <a:spLocks/>
          </p:cNvSpPr>
          <p:nvPr/>
        </p:nvSpPr>
        <p:spPr>
          <a:xfrm rot="0">
            <a:off x="594360" y="1737360"/>
            <a:ext cx="1645920"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IANA registries, licensed IP datasets, network metadata</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0" name="圆角矩形"/>
          <p:cNvSpPr>
            <a:spLocks/>
          </p:cNvSpPr>
          <p:nvPr/>
        </p:nvSpPr>
        <p:spPr>
          <a:xfrm rot="0">
            <a:off x="2606040" y="1371600"/>
            <a:ext cx="1828800" cy="868680"/>
          </a:xfrm>
          <a:prstGeom prst="roundRect">
            <a:avLst>
              <a:gd name="adj" fmla="val 8421"/>
            </a:avLst>
          </a:prstGeom>
          <a:solidFill>
            <a:schemeClr val="bg1"/>
          </a:solidFill>
          <a:ln w="19050" cmpd="sng" cap="flat">
            <a:solidFill>
              <a:srgbClr val="1A3BD8"/>
            </a:solidFill>
            <a:prstDash val="solid"/>
            <a:round/>
          </a:ln>
        </p:spPr>
      </p:sp>
      <p:sp>
        <p:nvSpPr>
          <p:cNvPr id="241" name="矩形"/>
          <p:cNvSpPr>
            <a:spLocks/>
          </p:cNvSpPr>
          <p:nvPr/>
        </p:nvSpPr>
        <p:spPr>
          <a:xfrm rot="0">
            <a:off x="2697480" y="1444752"/>
            <a:ext cx="1645920"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Data Acquisition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2" name="矩形"/>
          <p:cNvSpPr>
            <a:spLocks/>
          </p:cNvSpPr>
          <p:nvPr/>
        </p:nvSpPr>
        <p:spPr>
          <a:xfrm rot="0">
            <a:off x="2697480" y="1737360"/>
            <a:ext cx="1645920"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Collection, source tracking, validation</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3" name="圆角矩形"/>
          <p:cNvSpPr>
            <a:spLocks/>
          </p:cNvSpPr>
          <p:nvPr/>
        </p:nvSpPr>
        <p:spPr>
          <a:xfrm rot="0">
            <a:off x="4709160" y="1371600"/>
            <a:ext cx="1828800" cy="868680"/>
          </a:xfrm>
          <a:prstGeom prst="roundRect">
            <a:avLst>
              <a:gd name="adj" fmla="val 8421"/>
            </a:avLst>
          </a:prstGeom>
          <a:solidFill>
            <a:schemeClr val="bg1"/>
          </a:solidFill>
          <a:ln w="19050" cmpd="sng" cap="flat">
            <a:solidFill>
              <a:srgbClr val="1A3BD8"/>
            </a:solidFill>
            <a:prstDash val="solid"/>
            <a:round/>
          </a:ln>
        </p:spPr>
      </p:sp>
      <p:sp>
        <p:nvSpPr>
          <p:cNvPr id="244" name="矩形"/>
          <p:cNvSpPr>
            <a:spLocks/>
          </p:cNvSpPr>
          <p:nvPr/>
        </p:nvSpPr>
        <p:spPr>
          <a:xfrm rot="0">
            <a:off x="4800600" y="1444752"/>
            <a:ext cx="1645919"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Data Engineering</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5" name="矩形"/>
          <p:cNvSpPr>
            <a:spLocks/>
          </p:cNvSpPr>
          <p:nvPr/>
        </p:nvSpPr>
        <p:spPr>
          <a:xfrm rot="0">
            <a:off x="4800600" y="1737360"/>
            <a:ext cx="1645919"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Cleaning, dedup, label checks, features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6" name="圆角矩形"/>
          <p:cNvSpPr>
            <a:spLocks/>
          </p:cNvSpPr>
          <p:nvPr/>
        </p:nvSpPr>
        <p:spPr>
          <a:xfrm rot="0">
            <a:off x="6812280" y="1371600"/>
            <a:ext cx="1828800" cy="868680"/>
          </a:xfrm>
          <a:prstGeom prst="roundRect">
            <a:avLst>
              <a:gd name="adj" fmla="val 8421"/>
            </a:avLst>
          </a:prstGeom>
          <a:solidFill>
            <a:schemeClr val="bg1"/>
          </a:solidFill>
          <a:ln w="19050" cmpd="sng" cap="flat">
            <a:solidFill>
              <a:srgbClr val="1A3BD8"/>
            </a:solidFill>
            <a:prstDash val="solid"/>
            <a:round/>
          </a:ln>
        </p:spPr>
      </p:sp>
      <p:sp>
        <p:nvSpPr>
          <p:cNvPr id="247" name="矩形"/>
          <p:cNvSpPr>
            <a:spLocks/>
          </p:cNvSpPr>
          <p:nvPr/>
        </p:nvSpPr>
        <p:spPr>
          <a:xfrm rot="0">
            <a:off x="6903720" y="1444752"/>
            <a:ext cx="1645919"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Prepared Dataset</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8" name="矩形"/>
          <p:cNvSpPr>
            <a:spLocks/>
          </p:cNvSpPr>
          <p:nvPr/>
        </p:nvSpPr>
        <p:spPr>
          <a:xfrm rot="0">
            <a:off x="6903720" y="1737360"/>
            <a:ext cx="1645919"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Train · validation · independent test</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9" name="圆角矩形"/>
          <p:cNvSpPr>
            <a:spLocks/>
          </p:cNvSpPr>
          <p:nvPr/>
        </p:nvSpPr>
        <p:spPr>
          <a:xfrm rot="0">
            <a:off x="6812280" y="3108960"/>
            <a:ext cx="1828800" cy="868680"/>
          </a:xfrm>
          <a:prstGeom prst="roundRect">
            <a:avLst>
              <a:gd name="adj" fmla="val 8421"/>
            </a:avLst>
          </a:prstGeom>
          <a:solidFill>
            <a:schemeClr val="bg1"/>
          </a:solidFill>
          <a:ln w="19050" cmpd="sng" cap="flat">
            <a:solidFill>
              <a:srgbClr val="B45309"/>
            </a:solidFill>
            <a:prstDash val="solid"/>
            <a:round/>
          </a:ln>
        </p:spPr>
      </p:sp>
      <p:sp>
        <p:nvSpPr>
          <p:cNvPr id="250" name="矩形"/>
          <p:cNvSpPr>
            <a:spLocks/>
          </p:cNvSpPr>
          <p:nvPr/>
        </p:nvSpPr>
        <p:spPr>
          <a:xfrm rot="0">
            <a:off x="6903720" y="3182112"/>
            <a:ext cx="1645919"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ML Module</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1" name="矩形"/>
          <p:cNvSpPr>
            <a:spLocks/>
          </p:cNvSpPr>
          <p:nvPr/>
        </p:nvSpPr>
        <p:spPr>
          <a:xfrm rot="0">
            <a:off x="6903720" y="3474720"/>
            <a:ext cx="1645919"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Baseline, model comparison, tuning</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2" name="圆角矩形"/>
          <p:cNvSpPr>
            <a:spLocks/>
          </p:cNvSpPr>
          <p:nvPr/>
        </p:nvSpPr>
        <p:spPr>
          <a:xfrm rot="0">
            <a:off x="4709160" y="3108960"/>
            <a:ext cx="1828800" cy="868680"/>
          </a:xfrm>
          <a:prstGeom prst="roundRect">
            <a:avLst>
              <a:gd name="adj" fmla="val 8421"/>
            </a:avLst>
          </a:prstGeom>
          <a:solidFill>
            <a:schemeClr val="bg1"/>
          </a:solidFill>
          <a:ln w="19050" cmpd="sng" cap="flat">
            <a:solidFill>
              <a:srgbClr val="B45309"/>
            </a:solidFill>
            <a:prstDash val="solid"/>
            <a:round/>
          </a:ln>
        </p:spPr>
      </p:sp>
      <p:sp>
        <p:nvSpPr>
          <p:cNvPr id="253" name="矩形"/>
          <p:cNvSpPr>
            <a:spLocks/>
          </p:cNvSpPr>
          <p:nvPr/>
        </p:nvSpPr>
        <p:spPr>
          <a:xfrm rot="0">
            <a:off x="4800600" y="3182112"/>
            <a:ext cx="1645919"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Evaluation &amp; Selection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4" name="矩形"/>
          <p:cNvSpPr>
            <a:spLocks/>
          </p:cNvSpPr>
          <p:nvPr/>
        </p:nvSpPr>
        <p:spPr>
          <a:xfrm rot="0">
            <a:off x="4800600" y="3474720"/>
            <a:ext cx="1645919"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Precision, recall, F1, error analysis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5" name="圆角矩形"/>
          <p:cNvSpPr>
            <a:spLocks/>
          </p:cNvSpPr>
          <p:nvPr/>
        </p:nvSpPr>
        <p:spPr>
          <a:xfrm rot="0">
            <a:off x="2606040" y="3108960"/>
            <a:ext cx="1828800" cy="868680"/>
          </a:xfrm>
          <a:prstGeom prst="roundRect">
            <a:avLst>
              <a:gd name="adj" fmla="val 8421"/>
            </a:avLst>
          </a:prstGeom>
          <a:solidFill>
            <a:schemeClr val="tx2"/>
          </a:solidFill>
          <a:ln w="19050" cmpd="sng" cap="flat">
            <a:solidFill>
              <a:srgbClr val="0A1F6B"/>
            </a:solidFill>
            <a:prstDash val="solid"/>
            <a:round/>
          </a:ln>
        </p:spPr>
      </p:sp>
      <p:sp>
        <p:nvSpPr>
          <p:cNvPr id="256" name="矩形"/>
          <p:cNvSpPr>
            <a:spLocks/>
          </p:cNvSpPr>
          <p:nvPr/>
        </p:nvSpPr>
        <p:spPr>
          <a:xfrm rot="0">
            <a:off x="2697480" y="3182112"/>
            <a:ext cx="1645920"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bg1"/>
                </a:solidFill>
                <a:latin typeface="Calibri" pitchFamily="0" charset="0"/>
                <a:ea typeface="等线" pitchFamily="0" charset="0"/>
                <a:cs typeface="Calibri" pitchFamily="0" charset="0"/>
              </a:rPr>
              <a:t>Classification Output</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7" name="矩形"/>
          <p:cNvSpPr>
            <a:spLocks/>
          </p:cNvSpPr>
          <p:nvPr/>
        </p:nvSpPr>
        <p:spPr>
          <a:xfrm rot="0">
            <a:off x="2697480" y="3474720"/>
            <a:ext cx="1645920"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bg1"/>
                </a:solidFill>
                <a:latin typeface="Calibri" pitchFamily="0" charset="0"/>
                <a:ea typeface="等线" pitchFamily="0" charset="0"/>
                <a:cs typeface="Calibri" pitchFamily="0" charset="0"/>
              </a:rPr>
              <a:t>Category + evidence + uncertainty flag</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8" name="圆角矩形"/>
          <p:cNvSpPr>
            <a:spLocks/>
          </p:cNvSpPr>
          <p:nvPr/>
        </p:nvSpPr>
        <p:spPr>
          <a:xfrm rot="0">
            <a:off x="502919" y="3108960"/>
            <a:ext cx="1828800" cy="868680"/>
          </a:xfrm>
          <a:prstGeom prst="roundRect">
            <a:avLst>
              <a:gd name="adj" fmla="val 8421"/>
            </a:avLst>
          </a:prstGeom>
          <a:solidFill>
            <a:srgbClr val="FF9933">
              <a:alpha val="20000"/>
            </a:srgbClr>
          </a:solidFill>
          <a:ln w="15875" cmpd="sng" cap="flat">
            <a:solidFill>
              <a:srgbClr val="FF9933"/>
            </a:solidFill>
            <a:prstDash val="dash"/>
            <a:round/>
          </a:ln>
        </p:spPr>
      </p:sp>
      <p:sp>
        <p:nvSpPr>
          <p:cNvPr id="259" name="矩形"/>
          <p:cNvSpPr>
            <a:spLocks/>
          </p:cNvSpPr>
          <p:nvPr/>
        </p:nvSpPr>
        <p:spPr>
          <a:xfrm rot="0">
            <a:off x="594360" y="3182112"/>
            <a:ext cx="1645920" cy="27432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Weak evidence?</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0" name="矩形"/>
          <p:cNvSpPr>
            <a:spLocks/>
          </p:cNvSpPr>
          <p:nvPr/>
        </p:nvSpPr>
        <p:spPr>
          <a:xfrm rot="0">
            <a:off x="594360" y="3474720"/>
            <a:ext cx="1645920" cy="4572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chemeClr val="tx1"/>
                </a:solidFill>
                <a:latin typeface="Calibri" pitchFamily="0" charset="0"/>
                <a:ea typeface="等线" pitchFamily="0" charset="0"/>
                <a:cs typeface="Calibri" pitchFamily="0" charset="0"/>
              </a:rPr>
              <a:t>Marked Unknown / Uncertain — not forced</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61" name="直线"/>
          <p:cNvSpPr>
            <a:spLocks/>
          </p:cNvSpPr>
          <p:nvPr/>
        </p:nvSpPr>
        <p:spPr>
          <a:xfrm rot="0">
            <a:off x="2331720" y="1805940"/>
            <a:ext cx="274319" cy="0"/>
          </a:xfrm>
          <a:prstGeom prst="line"/>
          <a:noFill/>
          <a:ln w="25400" cmpd="sng" cap="flat">
            <a:solidFill>
              <a:srgbClr val="1A3BD8"/>
            </a:solidFill>
            <a:prstDash val="solid"/>
            <a:round/>
            <a:tailEnd type="triangle" w="med" len="med"/>
          </a:ln>
        </p:spPr>
      </p:sp>
      <p:sp>
        <p:nvSpPr>
          <p:cNvPr id="262" name="直线"/>
          <p:cNvSpPr>
            <a:spLocks/>
          </p:cNvSpPr>
          <p:nvPr/>
        </p:nvSpPr>
        <p:spPr>
          <a:xfrm rot="0">
            <a:off x="4434840" y="1805940"/>
            <a:ext cx="274320" cy="0"/>
          </a:xfrm>
          <a:prstGeom prst="line"/>
          <a:noFill/>
          <a:ln w="25400" cmpd="sng" cap="flat">
            <a:solidFill>
              <a:srgbClr val="1A3BD8"/>
            </a:solidFill>
            <a:prstDash val="solid"/>
            <a:round/>
            <a:tailEnd type="triangle" w="med" len="med"/>
          </a:ln>
        </p:spPr>
      </p:sp>
      <p:sp>
        <p:nvSpPr>
          <p:cNvPr id="263" name="直线"/>
          <p:cNvSpPr>
            <a:spLocks/>
          </p:cNvSpPr>
          <p:nvPr/>
        </p:nvSpPr>
        <p:spPr>
          <a:xfrm rot="0">
            <a:off x="6537960" y="1805940"/>
            <a:ext cx="274319" cy="0"/>
          </a:xfrm>
          <a:prstGeom prst="line"/>
          <a:noFill/>
          <a:ln w="25400" cmpd="sng" cap="flat">
            <a:solidFill>
              <a:srgbClr val="1A3BD8"/>
            </a:solidFill>
            <a:prstDash val="solid"/>
            <a:round/>
            <a:tailEnd type="triangle" w="med" len="med"/>
          </a:ln>
        </p:spPr>
      </p:sp>
      <p:sp>
        <p:nvSpPr>
          <p:cNvPr id="264" name="直线"/>
          <p:cNvSpPr>
            <a:spLocks/>
          </p:cNvSpPr>
          <p:nvPr/>
        </p:nvSpPr>
        <p:spPr>
          <a:xfrm rot="0">
            <a:off x="7726680" y="2240280"/>
            <a:ext cx="0" cy="868680"/>
          </a:xfrm>
          <a:prstGeom prst="line"/>
          <a:noFill/>
          <a:ln w="25400" cmpd="sng" cap="flat">
            <a:solidFill>
              <a:srgbClr val="1A3BD8"/>
            </a:solidFill>
            <a:prstDash val="solid"/>
            <a:round/>
            <a:tailEnd type="triangle" w="med" len="med"/>
          </a:ln>
        </p:spPr>
      </p:sp>
      <p:sp>
        <p:nvSpPr>
          <p:cNvPr id="265" name="直线"/>
          <p:cNvSpPr>
            <a:spLocks/>
          </p:cNvSpPr>
          <p:nvPr/>
        </p:nvSpPr>
        <p:spPr>
          <a:xfrm flipH="1" rot="0">
            <a:off x="6537960" y="3543300"/>
            <a:ext cx="274319" cy="0"/>
          </a:xfrm>
          <a:prstGeom prst="line"/>
          <a:noFill/>
          <a:ln w="25400" cmpd="sng" cap="flat">
            <a:solidFill>
              <a:srgbClr val="1A3BD8"/>
            </a:solidFill>
            <a:prstDash val="solid"/>
            <a:round/>
            <a:tailEnd type="triangle" w="med" len="med"/>
          </a:ln>
        </p:spPr>
      </p:sp>
      <p:sp>
        <p:nvSpPr>
          <p:cNvPr id="266" name="直线"/>
          <p:cNvSpPr>
            <a:spLocks/>
          </p:cNvSpPr>
          <p:nvPr/>
        </p:nvSpPr>
        <p:spPr>
          <a:xfrm flipH="1" rot="0">
            <a:off x="4434840" y="3543300"/>
            <a:ext cx="274320" cy="0"/>
          </a:xfrm>
          <a:prstGeom prst="line"/>
          <a:noFill/>
          <a:ln w="25400" cmpd="sng" cap="flat">
            <a:solidFill>
              <a:srgbClr val="1A3BD8"/>
            </a:solidFill>
            <a:prstDash val="solid"/>
            <a:round/>
            <a:tailEnd type="triangle" w="med" len="med"/>
          </a:ln>
        </p:spPr>
      </p:sp>
      <p:sp>
        <p:nvSpPr>
          <p:cNvPr id="267" name="直线"/>
          <p:cNvSpPr>
            <a:spLocks/>
          </p:cNvSpPr>
          <p:nvPr/>
        </p:nvSpPr>
        <p:spPr>
          <a:xfrm flipH="1" rot="0">
            <a:off x="2331720" y="3543300"/>
            <a:ext cx="274319" cy="0"/>
          </a:xfrm>
          <a:prstGeom prst="line"/>
          <a:noFill/>
          <a:ln w="25400" cmpd="sng" cap="flat">
            <a:solidFill>
              <a:srgbClr val="1A3BD8"/>
            </a:solidFill>
            <a:prstDash val="solid"/>
            <a:round/>
            <a:tailEnd type="triangle" w="med" len="med"/>
          </a:ln>
        </p:spPr>
      </p:sp>
      <p:sp>
        <p:nvSpPr>
          <p:cNvPr id="268" name="直线"/>
          <p:cNvSpPr>
            <a:spLocks/>
          </p:cNvSpPr>
          <p:nvPr/>
        </p:nvSpPr>
        <p:spPr>
          <a:xfrm flipV="1" rot="0">
            <a:off x="5623560" y="2240280"/>
            <a:ext cx="0" cy="868680"/>
          </a:xfrm>
          <a:prstGeom prst="line"/>
          <a:noFill/>
          <a:ln w="25400" cmpd="sng" cap="flat">
            <a:solidFill>
              <a:srgbClr val="FF9933"/>
            </a:solidFill>
            <a:prstDash val="dash"/>
            <a:round/>
            <a:tailEnd type="triangle" w="med" len="med"/>
          </a:ln>
        </p:spPr>
      </p:sp>
      <p:sp>
        <p:nvSpPr>
          <p:cNvPr id="269" name="矩形"/>
          <p:cNvSpPr>
            <a:spLocks/>
          </p:cNvSpPr>
          <p:nvPr/>
        </p:nvSpPr>
        <p:spPr>
          <a:xfrm rot="0">
            <a:off x="5715000" y="2578608"/>
            <a:ext cx="1737360" cy="20116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0" i="1" u="none" strike="noStrike" kern="1200" cap="none" spc="0" baseline="0">
                <a:solidFill>
                  <a:srgbClr val="B45309"/>
                </a:solidFill>
                <a:latin typeface="Calibri" pitchFamily="0" charset="0"/>
                <a:ea typeface="等线" pitchFamily="0" charset="0"/>
                <a:cs typeface="Calibri" pitchFamily="0" charset="0"/>
              </a:rPr>
              <a:t>Feedback: labels, missing data</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0" name="矩形"/>
          <p:cNvSpPr>
            <a:spLocks/>
          </p:cNvSpPr>
          <p:nvPr/>
        </p:nvSpPr>
        <p:spPr>
          <a:xfrm rot="0">
            <a:off x="457200" y="4370832"/>
            <a:ext cx="8229600" cy="32004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100" b="0" i="1" u="none" strike="noStrike" kern="1200" cap="none" spc="0" baseline="0">
                <a:solidFill>
                  <a:schemeClr val="accent5"/>
                </a:solidFill>
                <a:latin typeface="Calibri" pitchFamily="0" charset="0"/>
                <a:ea typeface="等线" pitchFamily="0" charset="0"/>
                <a:cs typeface="Calibri" pitchFamily="0" charset="0"/>
              </a:rPr>
              <a:t>Figure 1: Source-data management is separated from model development and inference; evaluation findings loop back to data engineering.</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1"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6</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78988226"/>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274"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Data Flow Diagram</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5"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Data Flow Diagram</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276" name="矩形"/>
          <p:cNvSpPr>
            <a:spLocks/>
          </p:cNvSpPr>
          <p:nvPr/>
        </p:nvSpPr>
        <p:spPr>
          <a:xfrm rot="0">
            <a:off x="731520" y="1097280"/>
            <a:ext cx="2194560" cy="777240"/>
          </a:xfrm>
          <a:prstGeom prst="rect"/>
          <a:solidFill>
            <a:srgbClr val="E3E6EE"/>
          </a:solidFill>
          <a:ln w="19050" cmpd="sng" cap="flat">
            <a:solidFill>
              <a:srgbClr val="5B6478"/>
            </a:solidFill>
            <a:prstDash val="solid"/>
            <a:round/>
          </a:ln>
        </p:spPr>
      </p:sp>
      <p:sp>
        <p:nvSpPr>
          <p:cNvPr id="277" name="矩形"/>
          <p:cNvSpPr>
            <a:spLocks/>
          </p:cNvSpPr>
          <p:nvPr/>
        </p:nvSpPr>
        <p:spPr>
          <a:xfrm rot="0">
            <a:off x="822960" y="118872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0B1230"/>
                </a:solidFill>
                <a:latin typeface="Calibri" pitchFamily="0" charset="0"/>
                <a:ea typeface="等线" pitchFamily="0" charset="0"/>
                <a:cs typeface="Calibri" pitchFamily="0" charset="0"/>
              </a:rPr>
              <a:t>External Entity: Data Sources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8" name="矩形"/>
          <p:cNvSpPr>
            <a:spLocks/>
          </p:cNvSpPr>
          <p:nvPr/>
        </p:nvSpPr>
        <p:spPr>
          <a:xfrm rot="0">
            <a:off x="822960" y="146304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0B1230"/>
                </a:solidFill>
                <a:latin typeface="Calibri" pitchFamily="0" charset="0"/>
                <a:ea typeface="等线" pitchFamily="0" charset="0"/>
                <a:cs typeface="Calibri" pitchFamily="0" charset="0"/>
              </a:rPr>
              <a:t>IP registries, permitted network datasets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79" name="圆角矩形"/>
          <p:cNvSpPr>
            <a:spLocks/>
          </p:cNvSpPr>
          <p:nvPr/>
        </p:nvSpPr>
        <p:spPr>
          <a:xfrm rot="0">
            <a:off x="3474720" y="1097280"/>
            <a:ext cx="2194560" cy="777240"/>
          </a:xfrm>
          <a:prstGeom prst="roundRect">
            <a:avLst>
              <a:gd name="adj" fmla="val 14115"/>
            </a:avLst>
          </a:prstGeom>
          <a:solidFill>
            <a:srgbClr val="1A3BD8"/>
          </a:solidFill>
          <a:ln w="19050" cmpd="sng" cap="flat">
            <a:solidFill>
              <a:srgbClr val="1A3BD8"/>
            </a:solidFill>
            <a:prstDash val="solid"/>
            <a:round/>
          </a:ln>
        </p:spPr>
      </p:sp>
      <p:sp>
        <p:nvSpPr>
          <p:cNvPr id="280" name="矩形"/>
          <p:cNvSpPr>
            <a:spLocks/>
          </p:cNvSpPr>
          <p:nvPr/>
        </p:nvSpPr>
        <p:spPr>
          <a:xfrm rot="0">
            <a:off x="3566160" y="118872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P1 · Collect &amp; Validate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1" name="矩形"/>
          <p:cNvSpPr>
            <a:spLocks/>
          </p:cNvSpPr>
          <p:nvPr/>
        </p:nvSpPr>
        <p:spPr>
          <a:xfrm rot="0">
            <a:off x="3566160" y="146304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FFFFFF"/>
                </a:solidFill>
                <a:latin typeface="Calibri" pitchFamily="0" charset="0"/>
                <a:ea typeface="等线" pitchFamily="0" charset="0"/>
                <a:cs typeface="Calibri" pitchFamily="0" charset="0"/>
              </a:rPr>
              <a:t>Source check, format validation, provenance</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82" name="矩形"/>
          <p:cNvSpPr>
            <a:spLocks/>
          </p:cNvSpPr>
          <p:nvPr/>
        </p:nvSpPr>
        <p:spPr>
          <a:xfrm rot="0">
            <a:off x="6217920" y="1097280"/>
            <a:ext cx="2194560" cy="777240"/>
          </a:xfrm>
          <a:prstGeom prst="rect"/>
          <a:solidFill>
            <a:srgbClr val="EEF2FF"/>
          </a:solidFill>
          <a:ln w="19050" cmpd="sng" cap="flat">
            <a:solidFill>
              <a:srgbClr val="1A3BD8"/>
            </a:solidFill>
            <a:prstDash val="solid"/>
            <a:round/>
          </a:ln>
        </p:spPr>
      </p:sp>
      <p:sp>
        <p:nvSpPr>
          <p:cNvPr id="283" name="矩形"/>
          <p:cNvSpPr>
            <a:spLocks/>
          </p:cNvSpPr>
          <p:nvPr/>
        </p:nvSpPr>
        <p:spPr>
          <a:xfrm rot="0">
            <a:off x="6309360" y="118872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0A1F6B"/>
                </a:solidFill>
                <a:latin typeface="Calibri" pitchFamily="0" charset="0"/>
                <a:ea typeface="等线" pitchFamily="0" charset="0"/>
                <a:cs typeface="Calibri" pitchFamily="0" charset="0"/>
              </a:rPr>
              <a:t>D1 · Raw Dataset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4" name="矩形"/>
          <p:cNvSpPr>
            <a:spLocks/>
          </p:cNvSpPr>
          <p:nvPr/>
        </p:nvSpPr>
        <p:spPr>
          <a:xfrm rot="0">
            <a:off x="6309360" y="146304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0A1F6B"/>
                </a:solidFill>
                <a:latin typeface="Calibri" pitchFamily="0" charset="0"/>
                <a:ea typeface="等线" pitchFamily="0" charset="0"/>
                <a:cs typeface="Calibri" pitchFamily="0" charset="0"/>
              </a:rPr>
              <a:t>Records retained for traceability</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85" name="圆角矩形"/>
          <p:cNvSpPr>
            <a:spLocks/>
          </p:cNvSpPr>
          <p:nvPr/>
        </p:nvSpPr>
        <p:spPr>
          <a:xfrm rot="0">
            <a:off x="6217920" y="2194560"/>
            <a:ext cx="2194560" cy="777240"/>
          </a:xfrm>
          <a:prstGeom prst="roundRect">
            <a:avLst>
              <a:gd name="adj" fmla="val 14115"/>
            </a:avLst>
          </a:prstGeom>
          <a:solidFill>
            <a:srgbClr val="1A3BD8"/>
          </a:solidFill>
          <a:ln w="19050" cmpd="sng" cap="flat">
            <a:solidFill>
              <a:srgbClr val="1A3BD8"/>
            </a:solidFill>
            <a:prstDash val="solid"/>
            <a:round/>
          </a:ln>
        </p:spPr>
      </p:sp>
      <p:sp>
        <p:nvSpPr>
          <p:cNvPr id="286" name="矩形"/>
          <p:cNvSpPr>
            <a:spLocks/>
          </p:cNvSpPr>
          <p:nvPr/>
        </p:nvSpPr>
        <p:spPr>
          <a:xfrm rot="0">
            <a:off x="6309360" y="228600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P2 · Clean &amp; Engineer</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7" name="矩形"/>
          <p:cNvSpPr>
            <a:spLocks/>
          </p:cNvSpPr>
          <p:nvPr/>
        </p:nvSpPr>
        <p:spPr>
          <a:xfrm rot="0">
            <a:off x="6309360" y="256032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FFFFFF"/>
                </a:solidFill>
                <a:latin typeface="Calibri" pitchFamily="0" charset="0"/>
                <a:ea typeface="等线" pitchFamily="0" charset="0"/>
                <a:cs typeface="Calibri" pitchFamily="0" charset="0"/>
              </a:rPr>
              <a:t>Dedup, missing values, feature prep</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88" name="矩形"/>
          <p:cNvSpPr>
            <a:spLocks/>
          </p:cNvSpPr>
          <p:nvPr/>
        </p:nvSpPr>
        <p:spPr>
          <a:xfrm rot="0">
            <a:off x="3474720" y="2194560"/>
            <a:ext cx="2194560" cy="777240"/>
          </a:xfrm>
          <a:prstGeom prst="rect"/>
          <a:solidFill>
            <a:srgbClr val="EEF2FF"/>
          </a:solidFill>
          <a:ln w="19050" cmpd="sng" cap="flat">
            <a:solidFill>
              <a:srgbClr val="1A3BD8"/>
            </a:solidFill>
            <a:prstDash val="solid"/>
            <a:round/>
          </a:ln>
        </p:spPr>
      </p:sp>
      <p:sp>
        <p:nvSpPr>
          <p:cNvPr id="289" name="矩形"/>
          <p:cNvSpPr>
            <a:spLocks/>
          </p:cNvSpPr>
          <p:nvPr/>
        </p:nvSpPr>
        <p:spPr>
          <a:xfrm rot="0">
            <a:off x="3566160" y="228600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0A1F6B"/>
                </a:solidFill>
                <a:latin typeface="Calibri" pitchFamily="0" charset="0"/>
                <a:ea typeface="等线" pitchFamily="0" charset="0"/>
                <a:cs typeface="Calibri" pitchFamily="0" charset="0"/>
              </a:rPr>
              <a:t>D2 · Prepared Dataset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0" name="矩形"/>
          <p:cNvSpPr>
            <a:spLocks/>
          </p:cNvSpPr>
          <p:nvPr/>
        </p:nvSpPr>
        <p:spPr>
          <a:xfrm rot="0">
            <a:off x="3566160" y="256032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0A1F6B"/>
                </a:solidFill>
                <a:latin typeface="Calibri" pitchFamily="0" charset="0"/>
                <a:ea typeface="等线" pitchFamily="0" charset="0"/>
                <a:cs typeface="Calibri" pitchFamily="0" charset="0"/>
              </a:rPr>
              <a:t>Consistent features, reviewed labels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1" name="圆角矩形"/>
          <p:cNvSpPr>
            <a:spLocks/>
          </p:cNvSpPr>
          <p:nvPr/>
        </p:nvSpPr>
        <p:spPr>
          <a:xfrm rot="0">
            <a:off x="731520" y="2194560"/>
            <a:ext cx="2194560" cy="777240"/>
          </a:xfrm>
          <a:prstGeom prst="roundRect">
            <a:avLst>
              <a:gd name="adj" fmla="val 14115"/>
            </a:avLst>
          </a:prstGeom>
          <a:solidFill>
            <a:srgbClr val="1A3BD8"/>
          </a:solidFill>
          <a:ln w="19050" cmpd="sng" cap="flat">
            <a:solidFill>
              <a:srgbClr val="1A3BD8"/>
            </a:solidFill>
            <a:prstDash val="solid"/>
            <a:round/>
          </a:ln>
        </p:spPr>
      </p:sp>
      <p:sp>
        <p:nvSpPr>
          <p:cNvPr id="292" name="矩形"/>
          <p:cNvSpPr>
            <a:spLocks/>
          </p:cNvSpPr>
          <p:nvPr/>
        </p:nvSpPr>
        <p:spPr>
          <a:xfrm rot="0">
            <a:off x="822960" y="2286000"/>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P3 · Train &amp; Evaluate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3" name="矩形"/>
          <p:cNvSpPr>
            <a:spLocks/>
          </p:cNvSpPr>
          <p:nvPr/>
        </p:nvSpPr>
        <p:spPr>
          <a:xfrm rot="0">
            <a:off x="822960" y="256032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FFFFFF"/>
                </a:solidFill>
                <a:latin typeface="Calibri" pitchFamily="0" charset="0"/>
                <a:ea typeface="等线" pitchFamily="0" charset="0"/>
                <a:cs typeface="Calibri" pitchFamily="0" charset="0"/>
              </a:rPr>
              <a:t>Training, validation, test, error analysis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4" name="矩形"/>
          <p:cNvSpPr>
            <a:spLocks/>
          </p:cNvSpPr>
          <p:nvPr/>
        </p:nvSpPr>
        <p:spPr>
          <a:xfrm rot="0">
            <a:off x="731520" y="3291840"/>
            <a:ext cx="2194560" cy="777240"/>
          </a:xfrm>
          <a:prstGeom prst="rect"/>
          <a:solidFill>
            <a:srgbClr val="EEF2FF"/>
          </a:solidFill>
          <a:ln w="19050" cmpd="sng" cap="flat">
            <a:solidFill>
              <a:srgbClr val="1A3BD8"/>
            </a:solidFill>
            <a:prstDash val="solid"/>
            <a:round/>
          </a:ln>
        </p:spPr>
      </p:sp>
      <p:sp>
        <p:nvSpPr>
          <p:cNvPr id="295" name="矩形"/>
          <p:cNvSpPr>
            <a:spLocks/>
          </p:cNvSpPr>
          <p:nvPr/>
        </p:nvSpPr>
        <p:spPr>
          <a:xfrm rot="0">
            <a:off x="822960" y="3383279"/>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0A1F6B"/>
                </a:solidFill>
                <a:latin typeface="Calibri" pitchFamily="0" charset="0"/>
                <a:ea typeface="等线" pitchFamily="0" charset="0"/>
                <a:cs typeface="Calibri" pitchFamily="0" charset="0"/>
              </a:rPr>
              <a:t>D3 · Model &amp; Results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6" name="矩形"/>
          <p:cNvSpPr>
            <a:spLocks/>
          </p:cNvSpPr>
          <p:nvPr/>
        </p:nvSpPr>
        <p:spPr>
          <a:xfrm rot="0">
            <a:off x="822960" y="365760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0A1F6B"/>
                </a:solidFill>
                <a:latin typeface="Calibri" pitchFamily="0" charset="0"/>
                <a:ea typeface="等线" pitchFamily="0" charset="0"/>
                <a:cs typeface="Calibri" pitchFamily="0" charset="0"/>
              </a:rPr>
              <a:t>Versioned model artifact and metrics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7" name="圆角矩形"/>
          <p:cNvSpPr>
            <a:spLocks/>
          </p:cNvSpPr>
          <p:nvPr/>
        </p:nvSpPr>
        <p:spPr>
          <a:xfrm rot="0">
            <a:off x="3474720" y="3291840"/>
            <a:ext cx="2194560" cy="777240"/>
          </a:xfrm>
          <a:prstGeom prst="roundRect">
            <a:avLst>
              <a:gd name="adj" fmla="val 14115"/>
            </a:avLst>
          </a:prstGeom>
          <a:solidFill>
            <a:srgbClr val="1A3BD8"/>
          </a:solidFill>
          <a:ln w="19050" cmpd="sng" cap="flat">
            <a:solidFill>
              <a:srgbClr val="1A3BD8"/>
            </a:solidFill>
            <a:prstDash val="solid"/>
            <a:round/>
          </a:ln>
        </p:spPr>
      </p:sp>
      <p:sp>
        <p:nvSpPr>
          <p:cNvPr id="298" name="矩形"/>
          <p:cNvSpPr>
            <a:spLocks/>
          </p:cNvSpPr>
          <p:nvPr/>
        </p:nvSpPr>
        <p:spPr>
          <a:xfrm rot="0">
            <a:off x="3566160" y="3383279"/>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P4 · Classify New IP</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9" name="矩形"/>
          <p:cNvSpPr>
            <a:spLocks/>
          </p:cNvSpPr>
          <p:nvPr/>
        </p:nvSpPr>
        <p:spPr>
          <a:xfrm rot="0">
            <a:off x="3566160" y="365760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FFFFFF"/>
                </a:solidFill>
                <a:latin typeface="Calibri" pitchFamily="0" charset="0"/>
                <a:ea typeface="等线" pitchFamily="0" charset="0"/>
                <a:cs typeface="Calibri" pitchFamily="0" charset="0"/>
              </a:rPr>
              <a:t>Same validation and feature preparation</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300" name="圆角矩形"/>
          <p:cNvSpPr>
            <a:spLocks/>
          </p:cNvSpPr>
          <p:nvPr/>
        </p:nvSpPr>
        <p:spPr>
          <a:xfrm rot="0">
            <a:off x="6217920" y="3291840"/>
            <a:ext cx="2194560" cy="777240"/>
          </a:xfrm>
          <a:prstGeom prst="roundRect">
            <a:avLst>
              <a:gd name="adj" fmla="val 14115"/>
            </a:avLst>
          </a:prstGeom>
          <a:solidFill>
            <a:srgbClr val="0A1F6B"/>
          </a:solidFill>
          <a:ln w="19050" cmpd="sng" cap="flat">
            <a:solidFill>
              <a:srgbClr val="0A1F6B"/>
            </a:solidFill>
            <a:prstDash val="solid"/>
            <a:round/>
          </a:ln>
        </p:spPr>
      </p:sp>
      <p:sp>
        <p:nvSpPr>
          <p:cNvPr id="301" name="矩形"/>
          <p:cNvSpPr>
            <a:spLocks/>
          </p:cNvSpPr>
          <p:nvPr/>
        </p:nvSpPr>
        <p:spPr>
          <a:xfrm rot="0">
            <a:off x="6309360" y="3383279"/>
            <a:ext cx="2011679" cy="25603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Calibri" pitchFamily="0" charset="0"/>
                <a:ea typeface="等线" pitchFamily="0" charset="0"/>
                <a:cs typeface="Calibri" pitchFamily="0" charset="0"/>
              </a:rPr>
              <a:t>Output</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02" name="矩形"/>
          <p:cNvSpPr>
            <a:spLocks/>
          </p:cNvSpPr>
          <p:nvPr/>
        </p:nvSpPr>
        <p:spPr>
          <a:xfrm rot="0">
            <a:off x="6309360" y="3657600"/>
            <a:ext cx="2011679" cy="384048"/>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0" u="none" strike="noStrike" kern="1200" cap="none" spc="0" baseline="0">
                <a:solidFill>
                  <a:srgbClr val="FFFFFF"/>
                </a:solidFill>
                <a:latin typeface="Calibri" pitchFamily="0" charset="0"/>
                <a:ea typeface="等线" pitchFamily="0" charset="0"/>
                <a:cs typeface="Calibri" pitchFamily="0" charset="0"/>
              </a:rPr>
              <a:t>Network type, evidence, uncertainty</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303" name="直线"/>
          <p:cNvSpPr>
            <a:spLocks/>
          </p:cNvSpPr>
          <p:nvPr/>
        </p:nvSpPr>
        <p:spPr>
          <a:xfrm rot="0">
            <a:off x="2926080" y="1485899"/>
            <a:ext cx="548639" cy="0"/>
          </a:xfrm>
          <a:prstGeom prst="line"/>
          <a:noFill/>
          <a:ln w="25400" cmpd="sng" cap="flat">
            <a:solidFill>
              <a:srgbClr val="1A3BD8"/>
            </a:solidFill>
            <a:prstDash val="solid"/>
            <a:round/>
            <a:tailEnd type="triangle" w="med" len="med"/>
          </a:ln>
        </p:spPr>
      </p:sp>
      <p:sp>
        <p:nvSpPr>
          <p:cNvPr id="304" name="直线"/>
          <p:cNvSpPr>
            <a:spLocks/>
          </p:cNvSpPr>
          <p:nvPr/>
        </p:nvSpPr>
        <p:spPr>
          <a:xfrm rot="0">
            <a:off x="5669280" y="1485899"/>
            <a:ext cx="548640" cy="0"/>
          </a:xfrm>
          <a:prstGeom prst="line"/>
          <a:noFill/>
          <a:ln w="25400" cmpd="sng" cap="flat">
            <a:solidFill>
              <a:srgbClr val="1A3BD8"/>
            </a:solidFill>
            <a:prstDash val="solid"/>
            <a:round/>
            <a:tailEnd type="triangle" w="med" len="med"/>
          </a:ln>
        </p:spPr>
      </p:sp>
      <p:sp>
        <p:nvSpPr>
          <p:cNvPr id="305" name="直线"/>
          <p:cNvSpPr>
            <a:spLocks/>
          </p:cNvSpPr>
          <p:nvPr/>
        </p:nvSpPr>
        <p:spPr>
          <a:xfrm rot="0">
            <a:off x="7315200" y="1874520"/>
            <a:ext cx="0" cy="320039"/>
          </a:xfrm>
          <a:prstGeom prst="line"/>
          <a:noFill/>
          <a:ln w="25400" cmpd="sng" cap="flat">
            <a:solidFill>
              <a:srgbClr val="1A3BD8"/>
            </a:solidFill>
            <a:prstDash val="solid"/>
            <a:round/>
            <a:tailEnd type="triangle" w="med" len="med"/>
          </a:ln>
        </p:spPr>
      </p:sp>
      <p:sp>
        <p:nvSpPr>
          <p:cNvPr id="306" name="直线"/>
          <p:cNvSpPr>
            <a:spLocks/>
          </p:cNvSpPr>
          <p:nvPr/>
        </p:nvSpPr>
        <p:spPr>
          <a:xfrm flipH="1" rot="0">
            <a:off x="5669280" y="2583180"/>
            <a:ext cx="548640" cy="0"/>
          </a:xfrm>
          <a:prstGeom prst="line"/>
          <a:noFill/>
          <a:ln w="25400" cmpd="sng" cap="flat">
            <a:solidFill>
              <a:srgbClr val="1A3BD8"/>
            </a:solidFill>
            <a:prstDash val="solid"/>
            <a:round/>
            <a:tailEnd type="triangle" w="med" len="med"/>
          </a:ln>
        </p:spPr>
      </p:sp>
      <p:sp>
        <p:nvSpPr>
          <p:cNvPr id="307" name="直线"/>
          <p:cNvSpPr>
            <a:spLocks/>
          </p:cNvSpPr>
          <p:nvPr/>
        </p:nvSpPr>
        <p:spPr>
          <a:xfrm flipH="1" rot="0">
            <a:off x="2926080" y="2583180"/>
            <a:ext cx="548639" cy="0"/>
          </a:xfrm>
          <a:prstGeom prst="line"/>
          <a:noFill/>
          <a:ln w="25400" cmpd="sng" cap="flat">
            <a:solidFill>
              <a:srgbClr val="1A3BD8"/>
            </a:solidFill>
            <a:prstDash val="solid"/>
            <a:round/>
            <a:tailEnd type="triangle" w="med" len="med"/>
          </a:ln>
        </p:spPr>
      </p:sp>
      <p:sp>
        <p:nvSpPr>
          <p:cNvPr id="308" name="直线"/>
          <p:cNvSpPr>
            <a:spLocks/>
          </p:cNvSpPr>
          <p:nvPr/>
        </p:nvSpPr>
        <p:spPr>
          <a:xfrm rot="0">
            <a:off x="1828800" y="2971799"/>
            <a:ext cx="0" cy="320040"/>
          </a:xfrm>
          <a:prstGeom prst="line"/>
          <a:noFill/>
          <a:ln w="25400" cmpd="sng" cap="flat">
            <a:solidFill>
              <a:srgbClr val="1A3BD8"/>
            </a:solidFill>
            <a:prstDash val="solid"/>
            <a:round/>
            <a:tailEnd type="triangle" w="med" len="med"/>
          </a:ln>
        </p:spPr>
      </p:sp>
      <p:sp>
        <p:nvSpPr>
          <p:cNvPr id="309" name="直线"/>
          <p:cNvSpPr>
            <a:spLocks/>
          </p:cNvSpPr>
          <p:nvPr/>
        </p:nvSpPr>
        <p:spPr>
          <a:xfrm rot="0">
            <a:off x="2926080" y="3680459"/>
            <a:ext cx="548639" cy="0"/>
          </a:xfrm>
          <a:prstGeom prst="line"/>
          <a:noFill/>
          <a:ln w="25400" cmpd="sng" cap="flat">
            <a:solidFill>
              <a:srgbClr val="1A3BD8"/>
            </a:solidFill>
            <a:prstDash val="solid"/>
            <a:round/>
            <a:tailEnd type="triangle" w="med" len="med"/>
          </a:ln>
        </p:spPr>
      </p:sp>
      <p:sp>
        <p:nvSpPr>
          <p:cNvPr id="310" name="直线"/>
          <p:cNvSpPr>
            <a:spLocks/>
          </p:cNvSpPr>
          <p:nvPr/>
        </p:nvSpPr>
        <p:spPr>
          <a:xfrm rot="0">
            <a:off x="5669280" y="3680459"/>
            <a:ext cx="548640" cy="0"/>
          </a:xfrm>
          <a:prstGeom prst="line"/>
          <a:noFill/>
          <a:ln w="25400" cmpd="sng" cap="flat">
            <a:solidFill>
              <a:srgbClr val="1A3BD8"/>
            </a:solidFill>
            <a:prstDash val="solid"/>
            <a:round/>
            <a:tailEnd type="triangle" w="med" len="med"/>
          </a:ln>
        </p:spPr>
      </p:sp>
      <p:sp>
        <p:nvSpPr>
          <p:cNvPr id="311" name="矩形"/>
          <p:cNvSpPr>
            <a:spLocks/>
          </p:cNvSpPr>
          <p:nvPr/>
        </p:nvSpPr>
        <p:spPr>
          <a:xfrm rot="0">
            <a:off x="1828800" y="4279392"/>
            <a:ext cx="201168" cy="146303"/>
          </a:xfrm>
          <a:prstGeom prst="rect"/>
          <a:solidFill>
            <a:srgbClr val="E3E6EE"/>
          </a:solidFill>
          <a:ln w="12700" cmpd="sng" cap="flat">
            <a:solidFill>
              <a:srgbClr val="5B6478"/>
            </a:solidFill>
            <a:prstDash val="solid"/>
            <a:round/>
          </a:ln>
        </p:spPr>
      </p:sp>
      <p:sp>
        <p:nvSpPr>
          <p:cNvPr id="312" name="矩形"/>
          <p:cNvSpPr>
            <a:spLocks/>
          </p:cNvSpPr>
          <p:nvPr/>
        </p:nvSpPr>
        <p:spPr>
          <a:xfrm rot="0">
            <a:off x="2103120" y="4251960"/>
            <a:ext cx="1051560" cy="20116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External entity</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3" name="矩形"/>
          <p:cNvSpPr>
            <a:spLocks/>
          </p:cNvSpPr>
          <p:nvPr/>
        </p:nvSpPr>
        <p:spPr>
          <a:xfrm rot="0">
            <a:off x="3200400" y="4279392"/>
            <a:ext cx="201168" cy="146303"/>
          </a:xfrm>
          <a:prstGeom prst="rect"/>
          <a:solidFill>
            <a:srgbClr val="1A3BD8"/>
          </a:solidFill>
          <a:ln w="12700" cmpd="sng" cap="flat">
            <a:solidFill>
              <a:srgbClr val="1A3BD8"/>
            </a:solidFill>
            <a:prstDash val="solid"/>
            <a:round/>
          </a:ln>
        </p:spPr>
      </p:sp>
      <p:sp>
        <p:nvSpPr>
          <p:cNvPr id="314" name="矩形"/>
          <p:cNvSpPr>
            <a:spLocks/>
          </p:cNvSpPr>
          <p:nvPr/>
        </p:nvSpPr>
        <p:spPr>
          <a:xfrm rot="0">
            <a:off x="3474720" y="4251960"/>
            <a:ext cx="1051559" cy="20116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Process</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5" name="矩形"/>
          <p:cNvSpPr>
            <a:spLocks/>
          </p:cNvSpPr>
          <p:nvPr/>
        </p:nvSpPr>
        <p:spPr>
          <a:xfrm rot="0">
            <a:off x="4572000" y="4279392"/>
            <a:ext cx="201168" cy="146303"/>
          </a:xfrm>
          <a:prstGeom prst="rect"/>
          <a:solidFill>
            <a:srgbClr val="EEF2FF"/>
          </a:solidFill>
          <a:ln w="12700" cmpd="sng" cap="flat">
            <a:solidFill>
              <a:srgbClr val="1A3BD8"/>
            </a:solidFill>
            <a:prstDash val="solid"/>
            <a:round/>
          </a:ln>
        </p:spPr>
      </p:sp>
      <p:sp>
        <p:nvSpPr>
          <p:cNvPr id="316" name="矩形"/>
          <p:cNvSpPr>
            <a:spLocks/>
          </p:cNvSpPr>
          <p:nvPr/>
        </p:nvSpPr>
        <p:spPr>
          <a:xfrm rot="0">
            <a:off x="4846320" y="4251960"/>
            <a:ext cx="1051560" cy="20116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Data store</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7" name="矩形"/>
          <p:cNvSpPr>
            <a:spLocks/>
          </p:cNvSpPr>
          <p:nvPr/>
        </p:nvSpPr>
        <p:spPr>
          <a:xfrm rot="0">
            <a:off x="5943599" y="4279392"/>
            <a:ext cx="201167" cy="146303"/>
          </a:xfrm>
          <a:prstGeom prst="rect"/>
          <a:solidFill>
            <a:srgbClr val="0A1F6B"/>
          </a:solidFill>
          <a:ln w="12700" cmpd="sng" cap="flat">
            <a:solidFill>
              <a:srgbClr val="0A1F6B"/>
            </a:solidFill>
            <a:prstDash val="solid"/>
            <a:round/>
          </a:ln>
        </p:spPr>
      </p:sp>
      <p:sp>
        <p:nvSpPr>
          <p:cNvPr id="318" name="矩形"/>
          <p:cNvSpPr>
            <a:spLocks/>
          </p:cNvSpPr>
          <p:nvPr/>
        </p:nvSpPr>
        <p:spPr>
          <a:xfrm rot="0">
            <a:off x="6217920" y="4251960"/>
            <a:ext cx="1051559" cy="201168"/>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000" b="0" i="0" u="none" strike="noStrike" kern="1200" cap="none" spc="0" baseline="0">
                <a:solidFill>
                  <a:schemeClr val="accent5"/>
                </a:solidFill>
                <a:latin typeface="Calibri" pitchFamily="0" charset="0"/>
                <a:ea typeface="等线" pitchFamily="0" charset="0"/>
                <a:cs typeface="Calibri" pitchFamily="0" charset="0"/>
              </a:rPr>
              <a:t>Output</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19" name="矩形"/>
          <p:cNvSpPr>
            <a:spLocks/>
          </p:cNvSpPr>
          <p:nvPr/>
        </p:nvSpPr>
        <p:spPr>
          <a:xfrm rot="0">
            <a:off x="457200" y="4507992"/>
            <a:ext cx="82296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50" b="0" i="1" u="none" strike="noStrike" kern="1200" cap="none" spc="0" baseline="0">
                <a:solidFill>
                  <a:schemeClr val="accent5"/>
                </a:solidFill>
                <a:latin typeface="Calibri" pitchFamily="0" charset="0"/>
                <a:ea typeface="等线" pitchFamily="0" charset="0"/>
                <a:cs typeface="Calibri" pitchFamily="0" charset="0"/>
              </a:rPr>
              <a:t>Figure 2: Dataset preparation → model training → IP classification, with the same validation applied at prediction time.</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320"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7</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145968021"/>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23"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Deployment Timeline</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4"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Deployment Timeline</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325" name="圆角矩形"/>
          <p:cNvSpPr>
            <a:spLocks/>
          </p:cNvSpPr>
          <p:nvPr/>
        </p:nvSpPr>
        <p:spPr>
          <a:xfrm rot="0">
            <a:off x="457200" y="1097280"/>
            <a:ext cx="2651760" cy="1097280"/>
          </a:xfrm>
          <a:prstGeom prst="roundRect">
            <a:avLst>
              <a:gd name="adj" fmla="val 6666"/>
            </a:avLst>
          </a:prstGeom>
          <a:solidFill>
            <a:schemeClr val="bg2"/>
          </a:solidFill>
          <a:ln w="6350" cmpd="sng" cap="flat">
            <a:solidFill>
              <a:srgbClr val="EEF2FF"/>
            </a:solidFill>
            <a:prstDash val="solid"/>
            <a:round/>
          </a:ln>
        </p:spPr>
      </p:sp>
      <p:sp>
        <p:nvSpPr>
          <p:cNvPr id="326" name="椭圆"/>
          <p:cNvSpPr>
            <a:spLocks/>
          </p:cNvSpPr>
          <p:nvPr/>
        </p:nvSpPr>
        <p:spPr>
          <a:xfrm rot="0">
            <a:off x="566928" y="1188720"/>
            <a:ext cx="347472" cy="347471"/>
          </a:xfrm>
          <a:prstGeom prst="ellipse"/>
          <a:solidFill>
            <a:srgbClr val="0A1F6B"/>
          </a:solidFill>
          <a:ln w="6350" cmpd="sng" cap="flat">
            <a:solidFill>
              <a:srgbClr val="0A1F6B"/>
            </a:solidFill>
            <a:prstDash val="solid"/>
            <a:round/>
          </a:ln>
        </p:spPr>
      </p:sp>
      <p:sp>
        <p:nvSpPr>
          <p:cNvPr id="327" name="矩形"/>
          <p:cNvSpPr>
            <a:spLocks/>
          </p:cNvSpPr>
          <p:nvPr/>
        </p:nvSpPr>
        <p:spPr>
          <a:xfrm rot="0">
            <a:off x="566928" y="1188720"/>
            <a:ext cx="347472" cy="347471"/>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1</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8" name="矩形"/>
          <p:cNvSpPr>
            <a:spLocks/>
          </p:cNvSpPr>
          <p:nvPr/>
        </p:nvSpPr>
        <p:spPr>
          <a:xfrm rot="0">
            <a:off x="1005839" y="1188720"/>
            <a:ext cx="2011679" cy="34747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Requirement Analysis</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29" name="矩形"/>
          <p:cNvSpPr>
            <a:spLocks/>
          </p:cNvSpPr>
          <p:nvPr/>
        </p:nvSpPr>
        <p:spPr>
          <a:xfrm rot="0">
            <a:off x="566928" y="1600200"/>
            <a:ext cx="2450591" cy="36576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Define categories, project scope and evaluation criteria</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0" name="矩形"/>
          <p:cNvSpPr>
            <a:spLocks/>
          </p:cNvSpPr>
          <p:nvPr/>
        </p:nvSpPr>
        <p:spPr>
          <a:xfrm rot="0">
            <a:off x="566928" y="1975103"/>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0A1F6B"/>
                </a:solidFill>
                <a:latin typeface="Calibri" pitchFamily="0" charset="0"/>
                <a:ea typeface="等线" pitchFamily="0" charset="0"/>
                <a:cs typeface="Calibri" pitchFamily="0" charset="0"/>
              </a:rPr>
              <a:t>Both members</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1" name="圆角矩形"/>
          <p:cNvSpPr>
            <a:spLocks/>
          </p:cNvSpPr>
          <p:nvPr/>
        </p:nvSpPr>
        <p:spPr>
          <a:xfrm rot="0">
            <a:off x="3246120" y="1097280"/>
            <a:ext cx="2651760" cy="1097280"/>
          </a:xfrm>
          <a:prstGeom prst="roundRect">
            <a:avLst>
              <a:gd name="adj" fmla="val 6666"/>
            </a:avLst>
          </a:prstGeom>
          <a:solidFill>
            <a:schemeClr val="bg2"/>
          </a:solidFill>
          <a:ln w="6350" cmpd="sng" cap="flat">
            <a:solidFill>
              <a:srgbClr val="EEF2FF"/>
            </a:solidFill>
            <a:prstDash val="solid"/>
            <a:round/>
          </a:ln>
        </p:spPr>
      </p:sp>
      <p:sp>
        <p:nvSpPr>
          <p:cNvPr id="332" name="椭圆"/>
          <p:cNvSpPr>
            <a:spLocks/>
          </p:cNvSpPr>
          <p:nvPr/>
        </p:nvSpPr>
        <p:spPr>
          <a:xfrm rot="0">
            <a:off x="3355848" y="1188720"/>
            <a:ext cx="347472" cy="347471"/>
          </a:xfrm>
          <a:prstGeom prst="ellipse"/>
          <a:solidFill>
            <a:srgbClr val="1A3BD8"/>
          </a:solidFill>
          <a:ln w="6350" cmpd="sng" cap="flat">
            <a:solidFill>
              <a:srgbClr val="1A3BD8"/>
            </a:solidFill>
            <a:prstDash val="solid"/>
            <a:round/>
          </a:ln>
        </p:spPr>
      </p:sp>
      <p:sp>
        <p:nvSpPr>
          <p:cNvPr id="333" name="矩形"/>
          <p:cNvSpPr>
            <a:spLocks/>
          </p:cNvSpPr>
          <p:nvPr/>
        </p:nvSpPr>
        <p:spPr>
          <a:xfrm rot="0">
            <a:off x="3355848" y="1188720"/>
            <a:ext cx="347472" cy="347471"/>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2</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4" name="矩形"/>
          <p:cNvSpPr>
            <a:spLocks/>
          </p:cNvSpPr>
          <p:nvPr/>
        </p:nvSpPr>
        <p:spPr>
          <a:xfrm rot="0">
            <a:off x="3794760" y="1188720"/>
            <a:ext cx="2011679" cy="34747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Data Acquisition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5" name="矩形"/>
          <p:cNvSpPr>
            <a:spLocks/>
          </p:cNvSpPr>
          <p:nvPr/>
        </p:nvSpPr>
        <p:spPr>
          <a:xfrm rot="0">
            <a:off x="3355848" y="1600200"/>
            <a:ext cx="2450591" cy="36576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Identify reliable sources, collect permitted data, document provenance</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6" name="矩形"/>
          <p:cNvSpPr>
            <a:spLocks/>
          </p:cNvSpPr>
          <p:nvPr/>
        </p:nvSpPr>
        <p:spPr>
          <a:xfrm rot="0">
            <a:off x="3355848" y="1975103"/>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1A3BD8"/>
                </a:solidFill>
                <a:latin typeface="Calibri" pitchFamily="0" charset="0"/>
                <a:ea typeface="等线" pitchFamily="0" charset="0"/>
                <a:cs typeface="Calibri" pitchFamily="0" charset="0"/>
              </a:rPr>
              <a:t>Team Member 1</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7" name="圆角矩形"/>
          <p:cNvSpPr>
            <a:spLocks/>
          </p:cNvSpPr>
          <p:nvPr/>
        </p:nvSpPr>
        <p:spPr>
          <a:xfrm rot="0">
            <a:off x="6035039" y="1097280"/>
            <a:ext cx="2651760" cy="1097280"/>
          </a:xfrm>
          <a:prstGeom prst="roundRect">
            <a:avLst>
              <a:gd name="adj" fmla="val 6666"/>
            </a:avLst>
          </a:prstGeom>
          <a:solidFill>
            <a:schemeClr val="bg2"/>
          </a:solidFill>
          <a:ln w="6350" cmpd="sng" cap="flat">
            <a:solidFill>
              <a:srgbClr val="EEF2FF"/>
            </a:solidFill>
            <a:prstDash val="solid"/>
            <a:round/>
          </a:ln>
        </p:spPr>
      </p:sp>
      <p:sp>
        <p:nvSpPr>
          <p:cNvPr id="338" name="椭圆"/>
          <p:cNvSpPr>
            <a:spLocks/>
          </p:cNvSpPr>
          <p:nvPr/>
        </p:nvSpPr>
        <p:spPr>
          <a:xfrm rot="0">
            <a:off x="6144768" y="1188720"/>
            <a:ext cx="347471" cy="347471"/>
          </a:xfrm>
          <a:prstGeom prst="ellipse"/>
          <a:solidFill>
            <a:srgbClr val="1A3BD8"/>
          </a:solidFill>
          <a:ln w="6350" cmpd="sng" cap="flat">
            <a:solidFill>
              <a:srgbClr val="1A3BD8"/>
            </a:solidFill>
            <a:prstDash val="solid"/>
            <a:round/>
          </a:ln>
        </p:spPr>
      </p:sp>
      <p:sp>
        <p:nvSpPr>
          <p:cNvPr id="339" name="矩形"/>
          <p:cNvSpPr>
            <a:spLocks/>
          </p:cNvSpPr>
          <p:nvPr/>
        </p:nvSpPr>
        <p:spPr>
          <a:xfrm rot="0">
            <a:off x="6144768" y="1188720"/>
            <a:ext cx="347471" cy="347471"/>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3</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0" name="矩形"/>
          <p:cNvSpPr>
            <a:spLocks/>
          </p:cNvSpPr>
          <p:nvPr/>
        </p:nvSpPr>
        <p:spPr>
          <a:xfrm rot="0">
            <a:off x="6583680" y="1188720"/>
            <a:ext cx="2011679" cy="347471"/>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Data Engineering</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1" name="矩形"/>
          <p:cNvSpPr>
            <a:spLocks/>
          </p:cNvSpPr>
          <p:nvPr/>
        </p:nvSpPr>
        <p:spPr>
          <a:xfrm rot="0">
            <a:off x="6144768" y="1600200"/>
            <a:ext cx="2450591" cy="36576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Clean records, validate labels, handle missing data, prepare features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2" name="矩形"/>
          <p:cNvSpPr>
            <a:spLocks/>
          </p:cNvSpPr>
          <p:nvPr/>
        </p:nvSpPr>
        <p:spPr>
          <a:xfrm rot="0">
            <a:off x="6144768" y="1975103"/>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1A3BD8"/>
                </a:solidFill>
                <a:latin typeface="Calibri" pitchFamily="0" charset="0"/>
                <a:ea typeface="等线" pitchFamily="0" charset="0"/>
                <a:cs typeface="Calibri" pitchFamily="0" charset="0"/>
              </a:rPr>
              <a:t>Team Member 1</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3" name="圆角矩形"/>
          <p:cNvSpPr>
            <a:spLocks/>
          </p:cNvSpPr>
          <p:nvPr/>
        </p:nvSpPr>
        <p:spPr>
          <a:xfrm rot="0">
            <a:off x="457200" y="2304288"/>
            <a:ext cx="2651760" cy="1097280"/>
          </a:xfrm>
          <a:prstGeom prst="roundRect">
            <a:avLst>
              <a:gd name="adj" fmla="val 6666"/>
            </a:avLst>
          </a:prstGeom>
          <a:solidFill>
            <a:schemeClr val="bg2"/>
          </a:solidFill>
          <a:ln w="6350" cmpd="sng" cap="flat">
            <a:solidFill>
              <a:srgbClr val="EEF2FF"/>
            </a:solidFill>
            <a:prstDash val="solid"/>
            <a:round/>
          </a:ln>
        </p:spPr>
      </p:sp>
      <p:sp>
        <p:nvSpPr>
          <p:cNvPr id="344" name="椭圆"/>
          <p:cNvSpPr>
            <a:spLocks/>
          </p:cNvSpPr>
          <p:nvPr/>
        </p:nvSpPr>
        <p:spPr>
          <a:xfrm rot="0">
            <a:off x="566928" y="2395728"/>
            <a:ext cx="347472" cy="347472"/>
          </a:xfrm>
          <a:prstGeom prst="ellipse"/>
          <a:solidFill>
            <a:srgbClr val="B45309"/>
          </a:solidFill>
          <a:ln w="6350" cmpd="sng" cap="flat">
            <a:solidFill>
              <a:srgbClr val="B45309"/>
            </a:solidFill>
            <a:prstDash val="solid"/>
            <a:round/>
          </a:ln>
        </p:spPr>
      </p:sp>
      <p:sp>
        <p:nvSpPr>
          <p:cNvPr id="345" name="矩形"/>
          <p:cNvSpPr>
            <a:spLocks/>
          </p:cNvSpPr>
          <p:nvPr/>
        </p:nvSpPr>
        <p:spPr>
          <a:xfrm rot="0">
            <a:off x="566928" y="2395728"/>
            <a:ext cx="347472" cy="347472"/>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4</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6" name="矩形"/>
          <p:cNvSpPr>
            <a:spLocks/>
          </p:cNvSpPr>
          <p:nvPr/>
        </p:nvSpPr>
        <p:spPr>
          <a:xfrm rot="0">
            <a:off x="1005839" y="2395728"/>
            <a:ext cx="2011679" cy="347472"/>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Model Development</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7" name="矩形"/>
          <p:cNvSpPr>
            <a:spLocks/>
          </p:cNvSpPr>
          <p:nvPr/>
        </p:nvSpPr>
        <p:spPr>
          <a:xfrm rot="0">
            <a:off x="566928" y="2807208"/>
            <a:ext cx="2450591" cy="3657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Establish baseline, train candidates, tune parameters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8" name="矩形"/>
          <p:cNvSpPr>
            <a:spLocks/>
          </p:cNvSpPr>
          <p:nvPr/>
        </p:nvSpPr>
        <p:spPr>
          <a:xfrm rot="0">
            <a:off x="566928" y="3182112"/>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B45309"/>
                </a:solidFill>
                <a:latin typeface="Calibri" pitchFamily="0" charset="0"/>
                <a:ea typeface="等线" pitchFamily="0" charset="0"/>
                <a:cs typeface="Calibri" pitchFamily="0" charset="0"/>
              </a:rPr>
              <a:t>Team Member 2</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49" name="圆角矩形"/>
          <p:cNvSpPr>
            <a:spLocks/>
          </p:cNvSpPr>
          <p:nvPr/>
        </p:nvSpPr>
        <p:spPr>
          <a:xfrm rot="0">
            <a:off x="3246120" y="2304288"/>
            <a:ext cx="2651760" cy="1097280"/>
          </a:xfrm>
          <a:prstGeom prst="roundRect">
            <a:avLst>
              <a:gd name="adj" fmla="val 6666"/>
            </a:avLst>
          </a:prstGeom>
          <a:solidFill>
            <a:schemeClr val="bg2"/>
          </a:solidFill>
          <a:ln w="6350" cmpd="sng" cap="flat">
            <a:solidFill>
              <a:srgbClr val="EEF2FF"/>
            </a:solidFill>
            <a:prstDash val="solid"/>
            <a:round/>
          </a:ln>
        </p:spPr>
      </p:sp>
      <p:sp>
        <p:nvSpPr>
          <p:cNvPr id="350" name="椭圆"/>
          <p:cNvSpPr>
            <a:spLocks/>
          </p:cNvSpPr>
          <p:nvPr/>
        </p:nvSpPr>
        <p:spPr>
          <a:xfrm rot="0">
            <a:off x="3355848" y="2395728"/>
            <a:ext cx="347472" cy="347472"/>
          </a:xfrm>
          <a:prstGeom prst="ellipse"/>
          <a:solidFill>
            <a:srgbClr val="B45309"/>
          </a:solidFill>
          <a:ln w="6350" cmpd="sng" cap="flat">
            <a:solidFill>
              <a:srgbClr val="B45309"/>
            </a:solidFill>
            <a:prstDash val="solid"/>
            <a:round/>
          </a:ln>
        </p:spPr>
      </p:sp>
      <p:sp>
        <p:nvSpPr>
          <p:cNvPr id="351" name="矩形"/>
          <p:cNvSpPr>
            <a:spLocks/>
          </p:cNvSpPr>
          <p:nvPr/>
        </p:nvSpPr>
        <p:spPr>
          <a:xfrm rot="0">
            <a:off x="3355848" y="2395728"/>
            <a:ext cx="347472" cy="347472"/>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5</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2" name="矩形"/>
          <p:cNvSpPr>
            <a:spLocks/>
          </p:cNvSpPr>
          <p:nvPr/>
        </p:nvSpPr>
        <p:spPr>
          <a:xfrm rot="0">
            <a:off x="3794760" y="2395728"/>
            <a:ext cx="2011679" cy="347472"/>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Testing &amp; Evaluation</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3" name="矩形"/>
          <p:cNvSpPr>
            <a:spLocks/>
          </p:cNvSpPr>
          <p:nvPr/>
        </p:nvSpPr>
        <p:spPr>
          <a:xfrm rot="0">
            <a:off x="3355848" y="2807208"/>
            <a:ext cx="2450591" cy="3657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Held-out evaluation, error analysis, model comparison</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4" name="矩形"/>
          <p:cNvSpPr>
            <a:spLocks/>
          </p:cNvSpPr>
          <p:nvPr/>
        </p:nvSpPr>
        <p:spPr>
          <a:xfrm rot="0">
            <a:off x="3355848" y="3182112"/>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B45309"/>
                </a:solidFill>
                <a:latin typeface="Calibri" pitchFamily="0" charset="0"/>
                <a:ea typeface="等线" pitchFamily="0" charset="0"/>
                <a:cs typeface="Calibri" pitchFamily="0" charset="0"/>
              </a:rPr>
              <a:t>Member 2, both review</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5" name="圆角矩形"/>
          <p:cNvSpPr>
            <a:spLocks/>
          </p:cNvSpPr>
          <p:nvPr/>
        </p:nvSpPr>
        <p:spPr>
          <a:xfrm rot="0">
            <a:off x="6035039" y="2304288"/>
            <a:ext cx="2651760" cy="1097280"/>
          </a:xfrm>
          <a:prstGeom prst="roundRect">
            <a:avLst>
              <a:gd name="adj" fmla="val 6666"/>
            </a:avLst>
          </a:prstGeom>
          <a:solidFill>
            <a:schemeClr val="bg2"/>
          </a:solidFill>
          <a:ln w="6350" cmpd="sng" cap="flat">
            <a:solidFill>
              <a:srgbClr val="EEF2FF"/>
            </a:solidFill>
            <a:prstDash val="solid"/>
            <a:round/>
          </a:ln>
        </p:spPr>
      </p:sp>
      <p:sp>
        <p:nvSpPr>
          <p:cNvPr id="356" name="椭圆"/>
          <p:cNvSpPr>
            <a:spLocks/>
          </p:cNvSpPr>
          <p:nvPr/>
        </p:nvSpPr>
        <p:spPr>
          <a:xfrm rot="0">
            <a:off x="6144768" y="2395728"/>
            <a:ext cx="347471" cy="347472"/>
          </a:xfrm>
          <a:prstGeom prst="ellipse"/>
          <a:solidFill>
            <a:srgbClr val="0A1F6B"/>
          </a:solidFill>
          <a:ln w="6350" cmpd="sng" cap="flat">
            <a:solidFill>
              <a:srgbClr val="0A1F6B"/>
            </a:solidFill>
            <a:prstDash val="solid"/>
            <a:round/>
          </a:ln>
        </p:spPr>
      </p:sp>
      <p:sp>
        <p:nvSpPr>
          <p:cNvPr id="357" name="矩形"/>
          <p:cNvSpPr>
            <a:spLocks/>
          </p:cNvSpPr>
          <p:nvPr/>
        </p:nvSpPr>
        <p:spPr>
          <a:xfrm rot="0">
            <a:off x="6144768" y="2395728"/>
            <a:ext cx="347471" cy="347472"/>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Calibri" pitchFamily="0" charset="0"/>
                <a:ea typeface="等线" pitchFamily="0" charset="0"/>
                <a:cs typeface="Calibri" pitchFamily="0" charset="0"/>
              </a:rPr>
              <a:t>6</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8" name="矩形"/>
          <p:cNvSpPr>
            <a:spLocks/>
          </p:cNvSpPr>
          <p:nvPr/>
        </p:nvSpPr>
        <p:spPr>
          <a:xfrm rot="0">
            <a:off x="6583680" y="2395728"/>
            <a:ext cx="2011679" cy="347472"/>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300" b="1" i="0" u="none" strike="noStrike" kern="1200" cap="none" spc="0" baseline="0">
                <a:solidFill>
                  <a:schemeClr val="tx2"/>
                </a:solidFill>
                <a:latin typeface="Calibri" pitchFamily="0" charset="0"/>
                <a:ea typeface="等线" pitchFamily="0" charset="0"/>
                <a:cs typeface="Calibri" pitchFamily="0" charset="0"/>
              </a:rPr>
              <a:t>Integration &amp; Demo</a:t>
            </a:r>
            <a:endParaRPr lang="zh-CN" altLang="en-US" sz="1300" b="0" i="0" u="none" strike="noStrike" kern="1200" cap="none" spc="0" baseline="0">
              <a:solidFill>
                <a:schemeClr val="tx1"/>
              </a:solidFill>
              <a:latin typeface="Calibri" pitchFamily="0" charset="0"/>
              <a:ea typeface="等线" pitchFamily="0" charset="0"/>
              <a:cs typeface="Calibri" pitchFamily="0" charset="0"/>
            </a:endParaRPr>
          </a:p>
        </p:txBody>
      </p:sp>
      <p:sp>
        <p:nvSpPr>
          <p:cNvPr id="359" name="矩形"/>
          <p:cNvSpPr>
            <a:spLocks/>
          </p:cNvSpPr>
          <p:nvPr/>
        </p:nvSpPr>
        <p:spPr>
          <a:xfrm rot="0">
            <a:off x="6144768" y="2807208"/>
            <a:ext cx="2450591" cy="3657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Connect input pipeline to the selected model; demo predictions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0" name="矩形"/>
          <p:cNvSpPr>
            <a:spLocks/>
          </p:cNvSpPr>
          <p:nvPr/>
        </p:nvSpPr>
        <p:spPr>
          <a:xfrm rot="0">
            <a:off x="6144768" y="3182112"/>
            <a:ext cx="2450591" cy="18287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000" b="1" i="0" u="none" strike="noStrike" kern="1200" cap="none" spc="0" baseline="0">
                <a:solidFill>
                  <a:srgbClr val="0A1F6B"/>
                </a:solidFill>
                <a:latin typeface="Calibri" pitchFamily="0" charset="0"/>
                <a:ea typeface="等线" pitchFamily="0" charset="0"/>
                <a:cs typeface="Calibri" pitchFamily="0" charset="0"/>
              </a:rPr>
              <a:t>Both members</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1" name="圆角矩形"/>
          <p:cNvSpPr>
            <a:spLocks/>
          </p:cNvSpPr>
          <p:nvPr/>
        </p:nvSpPr>
        <p:spPr>
          <a:xfrm rot="0">
            <a:off x="457200" y="3611880"/>
            <a:ext cx="4937760" cy="1069848"/>
          </a:xfrm>
          <a:prstGeom prst="roundRect">
            <a:avLst>
              <a:gd name="adj" fmla="val 6837"/>
            </a:avLst>
          </a:prstGeom>
          <a:solidFill>
            <a:schemeClr val="tx2"/>
          </a:solidFill>
          <a:ln w="6350" cmpd="sng" cap="flat">
            <a:solidFill>
              <a:srgbClr val="0A1F6B"/>
            </a:solidFill>
            <a:prstDash val="solid"/>
            <a:round/>
          </a:ln>
        </p:spPr>
      </p:sp>
      <p:sp>
        <p:nvSpPr>
          <p:cNvPr id="362" name="矩形"/>
          <p:cNvSpPr>
            <a:spLocks/>
          </p:cNvSpPr>
          <p:nvPr/>
        </p:nvSpPr>
        <p:spPr>
          <a:xfrm rot="0">
            <a:off x="640080" y="3685032"/>
            <a:ext cx="4572000" cy="256031"/>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accent2"/>
                </a:solidFill>
                <a:latin typeface="Calibri" pitchFamily="0" charset="0"/>
                <a:ea typeface="等线" pitchFamily="0" charset="0"/>
                <a:cs typeface="Calibri" pitchFamily="0" charset="0"/>
              </a:rPr>
              <a:t>Deployment methodology</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3" name="矩形"/>
          <p:cNvSpPr>
            <a:spLocks/>
          </p:cNvSpPr>
          <p:nvPr/>
        </p:nvSpPr>
        <p:spPr>
          <a:xfrm rot="0">
            <a:off x="640080" y="3968496"/>
            <a:ext cx="4572000" cy="68580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200" b="0" i="0" u="none" strike="noStrike" kern="1200" cap="none" spc="0" baseline="0">
                <a:solidFill>
                  <a:schemeClr val="bg1"/>
                </a:solidFill>
                <a:latin typeface="Calibri" pitchFamily="0" charset="0"/>
                <a:ea typeface="等线" pitchFamily="0" charset="0"/>
                <a:cs typeface="Calibri" pitchFamily="0" charset="0"/>
              </a:rPr>
              <a:t>Incremental and iterative: check data quality before training, review performance after every major experiment, and revisit data or features when labels or errors look unreliable.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4" name="圆角矩形"/>
          <p:cNvSpPr>
            <a:spLocks/>
          </p:cNvSpPr>
          <p:nvPr/>
        </p:nvSpPr>
        <p:spPr>
          <a:xfrm rot="0">
            <a:off x="5532120" y="3611880"/>
            <a:ext cx="3154680" cy="1069848"/>
          </a:xfrm>
          <a:prstGeom prst="roundRect">
            <a:avLst>
              <a:gd name="adj" fmla="val 6837"/>
            </a:avLst>
          </a:prstGeom>
          <a:solidFill>
            <a:schemeClr val="bg2"/>
          </a:solidFill>
          <a:ln w="6350" cmpd="sng" cap="flat">
            <a:solidFill>
              <a:srgbClr val="EEF2FF"/>
            </a:solidFill>
            <a:prstDash val="solid"/>
            <a:round/>
          </a:ln>
        </p:spPr>
      </p:sp>
      <p:sp>
        <p:nvSpPr>
          <p:cNvPr id="365" name="矩形"/>
          <p:cNvSpPr>
            <a:spLocks/>
          </p:cNvSpPr>
          <p:nvPr/>
        </p:nvSpPr>
        <p:spPr>
          <a:xfrm rot="0">
            <a:off x="5715000" y="3685032"/>
            <a:ext cx="2743200" cy="256031"/>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2"/>
                </a:solidFill>
                <a:latin typeface="Calibri" pitchFamily="0" charset="0"/>
                <a:ea typeface="等线" pitchFamily="0" charset="0"/>
                <a:cs typeface="Calibri" pitchFamily="0" charset="0"/>
              </a:rPr>
              <a:t>Deliverables</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6" name="矩形"/>
          <p:cNvSpPr>
            <a:spLocks/>
          </p:cNvSpPr>
          <p:nvPr/>
        </p:nvSpPr>
        <p:spPr>
          <a:xfrm rot="0">
            <a:off x="5715000" y="3959352"/>
            <a:ext cx="2880360" cy="685800"/>
          </a:xfrm>
          <a:prstGeom prst="rect"/>
          <a:noFill/>
          <a:ln w="12700" cmpd="sng" cap="flat">
            <a:noFill/>
            <a:prstDash val="solid"/>
            <a:miter/>
          </a:ln>
        </p:spPr>
        <p:txBody>
          <a:bodyPr vert="horz" wrap="square" lIns="0" tIns="0" rIns="0" bIns="0" anchor="t" anchorCtr="0">
            <a:prstTxWarp prst="textNoShape"/>
          </a:bodyPr>
          <a:lstStyle/>
          <a:p>
            <a:pPr marL="342900" indent="-342900" algn="l">
              <a:lnSpc>
                <a:spcPct val="100000"/>
              </a:lnSpc>
              <a:spcBef>
                <a:spcPts val="0"/>
              </a:spcBef>
              <a:spcAft>
                <a:spcPts val="100"/>
              </a:spcAft>
              <a:buClrTx/>
              <a:buChar char="•"/>
            </a:pPr>
            <a:r>
              <a:rPr lang="en-US" altLang="zh-CN" sz="1100" b="0" i="0" u="none" strike="noStrike" kern="1200" cap="none" spc="0" baseline="0">
                <a:solidFill>
                  <a:schemeClr val="tx1"/>
                </a:solidFill>
                <a:latin typeface="Calibri" pitchFamily="0" charset="0"/>
                <a:ea typeface="等线" pitchFamily="0" charset="0"/>
                <a:cs typeface="Calibri" pitchFamily="0" charset="0"/>
              </a:rPr>
              <a:t>Documented data-prep pipeline</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00000"/>
              </a:lnSpc>
              <a:spcBef>
                <a:spcPts val="0"/>
              </a:spcBef>
              <a:spcAft>
                <a:spcPts val="100"/>
              </a:spcAft>
              <a:buClrTx/>
              <a:buChar char="•"/>
            </a:pPr>
            <a:r>
              <a:rPr lang="en-US" altLang="zh-CN" sz="1100" b="0" i="0" u="none" strike="noStrike" kern="1200" cap="none" spc="0" baseline="0">
                <a:solidFill>
                  <a:schemeClr val="tx1"/>
                </a:solidFill>
                <a:latin typeface="Calibri" pitchFamily="0" charset="0"/>
                <a:ea typeface="等线" pitchFamily="0" charset="0"/>
                <a:cs typeface="Calibri" pitchFamily="0" charset="0"/>
              </a:rPr>
              <a:t>Trained, evaluated model</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00000"/>
              </a:lnSpc>
              <a:spcBef>
                <a:spcPts val="0"/>
              </a:spcBef>
              <a:spcAft>
                <a:spcPts val="100"/>
              </a:spcAft>
              <a:buClrTx/>
              <a:buChar char="•"/>
            </a:pPr>
            <a:r>
              <a:rPr lang="en-US" altLang="zh-CN" sz="1100" b="0" i="0" u="none" strike="noStrike" kern="1200" cap="none" spc="0" baseline="0">
                <a:solidFill>
                  <a:schemeClr val="tx1"/>
                </a:solidFill>
                <a:latin typeface="Calibri" pitchFamily="0" charset="0"/>
                <a:ea typeface="等线" pitchFamily="0" charset="0"/>
                <a:cs typeface="Calibri" pitchFamily="0" charset="0"/>
              </a:rPr>
              <a:t>Evaluation results</a:t>
            </a:r>
            <a:endParaRPr lang="en-US" altLang="zh-CN" sz="1100" b="0" i="0" u="none" strike="noStrike" kern="1200" cap="none" spc="0" baseline="0">
              <a:solidFill>
                <a:schemeClr val="tx1"/>
              </a:solidFill>
              <a:latin typeface="Calibri" pitchFamily="0" charset="0"/>
              <a:ea typeface="等线" pitchFamily="0" charset="0"/>
              <a:cs typeface="Calibri" pitchFamily="0" charset="0"/>
            </a:endParaRPr>
          </a:p>
          <a:p>
            <a:pPr marL="342900" indent="-342900" algn="l">
              <a:lnSpc>
                <a:spcPct val="100000"/>
              </a:lnSpc>
              <a:spcBef>
                <a:spcPts val="0"/>
              </a:spcBef>
              <a:spcAft>
                <a:spcPts val="100"/>
              </a:spcAft>
              <a:buClrTx/>
              <a:buChar char="•"/>
            </a:pPr>
            <a:r>
              <a:rPr lang="en-US" altLang="zh-CN" sz="1100" b="0" i="0" u="none" strike="noStrike" kern="1200" cap="none" spc="0" baseline="0">
                <a:solidFill>
                  <a:schemeClr val="tx1"/>
                </a:solidFill>
                <a:latin typeface="Calibri" pitchFamily="0" charset="0"/>
                <a:ea typeface="等线" pitchFamily="0" charset="0"/>
                <a:cs typeface="Calibri" pitchFamily="0" charset="0"/>
              </a:rPr>
              <a:t>Working classification demo</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7"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8</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093257210"/>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p:bgPr>
    </p:bg>
    <p:spTree>
      <p:nvGrpSpPr>
        <p:cNvPr id="1" name=""/>
        <p:cNvGrpSpPr/>
        <p:nvPr/>
      </p:nvGrpSpPr>
      <p:grpSpPr>
        <a:xfrm>
          <a:off x="0" y="0"/>
          <a:ext cx="0" cy="0"/>
          <a:chOff x="0" y="0"/>
          <a:chExt cx="0" cy="0"/>
        </a:xfrm>
      </p:grpSpPr>
      <p:sp>
        <p:nvSpPr>
          <p:cNvPr id="370" name="矩形"/>
          <p:cNvSpPr>
            <a:spLocks/>
          </p:cNvSpPr>
          <p:nvPr/>
        </p:nvSpPr>
        <p:spPr>
          <a:xfrm rot="0">
            <a:off x="457200" y="109728"/>
            <a:ext cx="7772400" cy="228600"/>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0000"/>
              </a:lnSpc>
              <a:spcBef>
                <a:spcPts val="0"/>
              </a:spcBef>
              <a:spcAft>
                <a:spcPts val="0"/>
              </a:spcAft>
              <a:buNone/>
            </a:pPr>
            <a:r>
              <a:rPr lang="en-US" altLang="zh-CN" sz="1000" b="1" i="0" u="none" strike="noStrike" kern="1200" cap="none" spc="0" baseline="0">
                <a:solidFill>
                  <a:schemeClr val="accent1"/>
                </a:solidFill>
                <a:latin typeface="Calibri" pitchFamily="0" charset="0"/>
                <a:ea typeface="等线" pitchFamily="0" charset="0"/>
                <a:cs typeface="Calibri" pitchFamily="0" charset="0"/>
              </a:rPr>
              <a:t>AIORI 3</a:t>
            </a:r>
            <a:r>
              <a:rPr lang="en-US" altLang="zh-CN" sz="1000" b="1" i="0" u="none" strike="noStrike" kern="1200" cap="none" spc="0" baseline="0">
                <a:solidFill>
                  <a:schemeClr val="accent1"/>
                </a:solidFill>
                <a:latin typeface="Calibri" pitchFamily="0" charset="0"/>
                <a:ea typeface="等线" pitchFamily="0" charset="0"/>
                <a:cs typeface="Calibri" pitchFamily="0" charset="0"/>
              </a:rPr>
              <a:t>     Bibliography</a:t>
            </a:r>
            <a:endParaRPr lang="zh-CN" altLang="en-US" sz="10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1" name="文本框"/>
          <p:cNvSpPr>
            <a:spLocks noGrp="1"/>
          </p:cNvSpPr>
          <p:nvPr>
            <p:ph type="title"/>
          </p:nvPr>
        </p:nvSpPr>
        <p:spPr>
          <a:xfrm rot="0">
            <a:off x="457200" y="365760"/>
            <a:ext cx="7772400" cy="594360"/>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3200" b="1" i="0" u="none" strike="noStrike" kern="1200" cap="none" spc="0" baseline="0">
                <a:solidFill>
                  <a:schemeClr val="accent1"/>
                </a:solidFill>
                <a:latin typeface="Calibri" pitchFamily="0" charset="0"/>
                <a:ea typeface="等线 Light" pitchFamily="0" charset="0"/>
                <a:cs typeface="Lucida Sans"/>
              </a:rPr>
              <a:t>Bibliography</a:t>
            </a:r>
            <a:endParaRPr lang="zh-CN" altLang="en-US" sz="3200" b="1" i="0" u="none" strike="noStrike" kern="1200" cap="none" spc="0" baseline="0">
              <a:solidFill>
                <a:schemeClr val="accent1"/>
              </a:solidFill>
              <a:latin typeface="Calibri" pitchFamily="0" charset="0"/>
              <a:ea typeface="等线 Light" pitchFamily="0" charset="0"/>
              <a:cs typeface="Lucida Sans"/>
            </a:endParaRPr>
          </a:p>
        </p:txBody>
      </p:sp>
      <p:sp>
        <p:nvSpPr>
          <p:cNvPr id="372" name="圆角矩形"/>
          <p:cNvSpPr>
            <a:spLocks/>
          </p:cNvSpPr>
          <p:nvPr/>
        </p:nvSpPr>
        <p:spPr>
          <a:xfrm rot="0">
            <a:off x="457200" y="1097280"/>
            <a:ext cx="8229600" cy="493775"/>
          </a:xfrm>
          <a:prstGeom prst="roundRect">
            <a:avLst>
              <a:gd name="adj" fmla="val 14814"/>
            </a:avLst>
          </a:prstGeom>
          <a:solidFill>
            <a:schemeClr val="bg2"/>
          </a:solidFill>
          <a:ln w="6350" cmpd="sng" cap="flat">
            <a:solidFill>
              <a:srgbClr val="EEF2FF"/>
            </a:solidFill>
            <a:prstDash val="solid"/>
            <a:round/>
          </a:ln>
        </p:spPr>
      </p:sp>
      <p:sp>
        <p:nvSpPr>
          <p:cNvPr id="373" name="椭圆"/>
          <p:cNvSpPr>
            <a:spLocks/>
          </p:cNvSpPr>
          <p:nvPr/>
        </p:nvSpPr>
        <p:spPr>
          <a:xfrm rot="0">
            <a:off x="566928" y="1188720"/>
            <a:ext cx="310895" cy="310895"/>
          </a:xfrm>
          <a:prstGeom prst="ellipse"/>
          <a:solidFill>
            <a:schemeClr val="accent1"/>
          </a:solidFill>
          <a:ln w="6350" cmpd="sng" cap="flat">
            <a:solidFill>
              <a:srgbClr val="1A3BD8"/>
            </a:solidFill>
            <a:prstDash val="solid"/>
            <a:round/>
          </a:ln>
        </p:spPr>
      </p:sp>
      <p:sp>
        <p:nvSpPr>
          <p:cNvPr id="374" name="矩形"/>
          <p:cNvSpPr>
            <a:spLocks/>
          </p:cNvSpPr>
          <p:nvPr/>
        </p:nvSpPr>
        <p:spPr>
          <a:xfrm rot="0">
            <a:off x="566928" y="1188720"/>
            <a:ext cx="310895" cy="310895"/>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1</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5" name="矩形"/>
          <p:cNvSpPr>
            <a:spLocks/>
          </p:cNvSpPr>
          <p:nvPr/>
        </p:nvSpPr>
        <p:spPr>
          <a:xfrm rot="0">
            <a:off x="1005839" y="1097280"/>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Y. Rekhter, B. Moskowitz, D. Karrenberg, G. J. de Groot, E. Lear. “Address Allocation for Private Internets.” RFC 1918, IETF, Feb 1996. doi.org/10.17487/RFC1918</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6" name="圆角矩形"/>
          <p:cNvSpPr>
            <a:spLocks/>
          </p:cNvSpPr>
          <p:nvPr/>
        </p:nvSpPr>
        <p:spPr>
          <a:xfrm rot="0">
            <a:off x="457200" y="1664208"/>
            <a:ext cx="8229600" cy="493775"/>
          </a:xfrm>
          <a:prstGeom prst="roundRect">
            <a:avLst>
              <a:gd name="adj" fmla="val 14814"/>
            </a:avLst>
          </a:prstGeom>
          <a:solidFill>
            <a:schemeClr val="bg2"/>
          </a:solidFill>
          <a:ln w="6350" cmpd="sng" cap="flat">
            <a:solidFill>
              <a:srgbClr val="EEF2FF"/>
            </a:solidFill>
            <a:prstDash val="solid"/>
            <a:round/>
          </a:ln>
        </p:spPr>
      </p:sp>
      <p:sp>
        <p:nvSpPr>
          <p:cNvPr id="377" name="椭圆"/>
          <p:cNvSpPr>
            <a:spLocks/>
          </p:cNvSpPr>
          <p:nvPr/>
        </p:nvSpPr>
        <p:spPr>
          <a:xfrm rot="0">
            <a:off x="566928" y="1755648"/>
            <a:ext cx="310895" cy="310896"/>
          </a:xfrm>
          <a:prstGeom prst="ellipse"/>
          <a:solidFill>
            <a:schemeClr val="accent1"/>
          </a:solidFill>
          <a:ln w="6350" cmpd="sng" cap="flat">
            <a:solidFill>
              <a:srgbClr val="1A3BD8"/>
            </a:solidFill>
            <a:prstDash val="solid"/>
            <a:round/>
          </a:ln>
        </p:spPr>
      </p:sp>
      <p:sp>
        <p:nvSpPr>
          <p:cNvPr id="378" name="矩形"/>
          <p:cNvSpPr>
            <a:spLocks/>
          </p:cNvSpPr>
          <p:nvPr/>
        </p:nvSpPr>
        <p:spPr>
          <a:xfrm rot="0">
            <a:off x="566928" y="1755648"/>
            <a:ext cx="310895" cy="310896"/>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2</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79" name="矩形"/>
          <p:cNvSpPr>
            <a:spLocks/>
          </p:cNvSpPr>
          <p:nvPr/>
        </p:nvSpPr>
        <p:spPr>
          <a:xfrm rot="0">
            <a:off x="1005839" y="1664208"/>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J. Weil, V. Kuarsingh, C. Donley, C. Liljenstolpe, M. Azinger. “IANA-Reserved IPv4 Prefix for Shared Address Space.” RFC 6598, IETF, Apr 2012. doi.org/10.17487/RFC6598</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0" name="圆角矩形"/>
          <p:cNvSpPr>
            <a:spLocks/>
          </p:cNvSpPr>
          <p:nvPr/>
        </p:nvSpPr>
        <p:spPr>
          <a:xfrm rot="0">
            <a:off x="457200" y="2231136"/>
            <a:ext cx="8229600" cy="493775"/>
          </a:xfrm>
          <a:prstGeom prst="roundRect">
            <a:avLst>
              <a:gd name="adj" fmla="val 14814"/>
            </a:avLst>
          </a:prstGeom>
          <a:solidFill>
            <a:schemeClr val="bg2"/>
          </a:solidFill>
          <a:ln w="6350" cmpd="sng" cap="flat">
            <a:solidFill>
              <a:srgbClr val="EEF2FF"/>
            </a:solidFill>
            <a:prstDash val="solid"/>
            <a:round/>
          </a:ln>
        </p:spPr>
      </p:sp>
      <p:sp>
        <p:nvSpPr>
          <p:cNvPr id="381" name="椭圆"/>
          <p:cNvSpPr>
            <a:spLocks/>
          </p:cNvSpPr>
          <p:nvPr/>
        </p:nvSpPr>
        <p:spPr>
          <a:xfrm rot="0">
            <a:off x="566928" y="2322576"/>
            <a:ext cx="310895" cy="310896"/>
          </a:xfrm>
          <a:prstGeom prst="ellipse"/>
          <a:solidFill>
            <a:schemeClr val="accent1"/>
          </a:solidFill>
          <a:ln w="6350" cmpd="sng" cap="flat">
            <a:solidFill>
              <a:srgbClr val="1A3BD8"/>
            </a:solidFill>
            <a:prstDash val="solid"/>
            <a:round/>
          </a:ln>
        </p:spPr>
      </p:sp>
      <p:sp>
        <p:nvSpPr>
          <p:cNvPr id="382" name="矩形"/>
          <p:cNvSpPr>
            <a:spLocks/>
          </p:cNvSpPr>
          <p:nvPr/>
        </p:nvSpPr>
        <p:spPr>
          <a:xfrm rot="0">
            <a:off x="566928" y="2322576"/>
            <a:ext cx="310895" cy="310896"/>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3</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3" name="矩形"/>
          <p:cNvSpPr>
            <a:spLocks/>
          </p:cNvSpPr>
          <p:nvPr/>
        </p:nvSpPr>
        <p:spPr>
          <a:xfrm rot="0">
            <a:off x="1005839" y="2231136"/>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M. Cotton, L. Vegoda, R. Bonica, B. Haberman. “Special-Purpose IP Address Registries.” RFC 6890, IETF, Apr 2013. doi.org/10.17487/RFC6890</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4" name="圆角矩形"/>
          <p:cNvSpPr>
            <a:spLocks/>
          </p:cNvSpPr>
          <p:nvPr/>
        </p:nvSpPr>
        <p:spPr>
          <a:xfrm rot="0">
            <a:off x="457200" y="2798064"/>
            <a:ext cx="8229600" cy="493775"/>
          </a:xfrm>
          <a:prstGeom prst="roundRect">
            <a:avLst>
              <a:gd name="adj" fmla="val 14814"/>
            </a:avLst>
          </a:prstGeom>
          <a:solidFill>
            <a:schemeClr val="bg2"/>
          </a:solidFill>
          <a:ln w="6350" cmpd="sng" cap="flat">
            <a:solidFill>
              <a:srgbClr val="EEF2FF"/>
            </a:solidFill>
            <a:prstDash val="solid"/>
            <a:round/>
          </a:ln>
        </p:spPr>
      </p:sp>
      <p:sp>
        <p:nvSpPr>
          <p:cNvPr id="385" name="椭圆"/>
          <p:cNvSpPr>
            <a:spLocks/>
          </p:cNvSpPr>
          <p:nvPr/>
        </p:nvSpPr>
        <p:spPr>
          <a:xfrm rot="0">
            <a:off x="566928" y="2889504"/>
            <a:ext cx="310895" cy="310896"/>
          </a:xfrm>
          <a:prstGeom prst="ellipse"/>
          <a:solidFill>
            <a:schemeClr val="accent1"/>
          </a:solidFill>
          <a:ln w="6350" cmpd="sng" cap="flat">
            <a:solidFill>
              <a:srgbClr val="1A3BD8"/>
            </a:solidFill>
            <a:prstDash val="solid"/>
            <a:round/>
          </a:ln>
        </p:spPr>
      </p:sp>
      <p:sp>
        <p:nvSpPr>
          <p:cNvPr id="386" name="矩形"/>
          <p:cNvSpPr>
            <a:spLocks/>
          </p:cNvSpPr>
          <p:nvPr/>
        </p:nvSpPr>
        <p:spPr>
          <a:xfrm rot="0">
            <a:off x="566928" y="2889504"/>
            <a:ext cx="310895" cy="310896"/>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4</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7" name="矩形"/>
          <p:cNvSpPr>
            <a:spLocks/>
          </p:cNvSpPr>
          <p:nvPr/>
        </p:nvSpPr>
        <p:spPr>
          <a:xfrm rot="0">
            <a:off x="1005839" y="2798064"/>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IANA. “IPv4 Special-Purpose Address Registry.” iana.org/assignments/iana-ipv4-special-registry</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88" name="圆角矩形"/>
          <p:cNvSpPr>
            <a:spLocks/>
          </p:cNvSpPr>
          <p:nvPr/>
        </p:nvSpPr>
        <p:spPr>
          <a:xfrm rot="0">
            <a:off x="457200" y="3364992"/>
            <a:ext cx="8229600" cy="493775"/>
          </a:xfrm>
          <a:prstGeom prst="roundRect">
            <a:avLst>
              <a:gd name="adj" fmla="val 14814"/>
            </a:avLst>
          </a:prstGeom>
          <a:solidFill>
            <a:schemeClr val="bg2"/>
          </a:solidFill>
          <a:ln w="6350" cmpd="sng" cap="flat">
            <a:solidFill>
              <a:srgbClr val="EEF2FF"/>
            </a:solidFill>
            <a:prstDash val="solid"/>
            <a:round/>
          </a:ln>
        </p:spPr>
      </p:sp>
      <p:sp>
        <p:nvSpPr>
          <p:cNvPr id="389" name="椭圆"/>
          <p:cNvSpPr>
            <a:spLocks/>
          </p:cNvSpPr>
          <p:nvPr/>
        </p:nvSpPr>
        <p:spPr>
          <a:xfrm rot="0">
            <a:off x="566928" y="3456431"/>
            <a:ext cx="310895" cy="310896"/>
          </a:xfrm>
          <a:prstGeom prst="ellipse"/>
          <a:solidFill>
            <a:schemeClr val="accent1"/>
          </a:solidFill>
          <a:ln w="6350" cmpd="sng" cap="flat">
            <a:solidFill>
              <a:srgbClr val="1A3BD8"/>
            </a:solidFill>
            <a:prstDash val="solid"/>
            <a:round/>
          </a:ln>
        </p:spPr>
      </p:sp>
      <p:sp>
        <p:nvSpPr>
          <p:cNvPr id="390" name="矩形"/>
          <p:cNvSpPr>
            <a:spLocks/>
          </p:cNvSpPr>
          <p:nvPr/>
        </p:nvSpPr>
        <p:spPr>
          <a:xfrm rot="0">
            <a:off x="566928" y="3456431"/>
            <a:ext cx="310895" cy="310896"/>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5</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1" name="矩形"/>
          <p:cNvSpPr>
            <a:spLocks/>
          </p:cNvSpPr>
          <p:nvPr/>
        </p:nvSpPr>
        <p:spPr>
          <a:xfrm rot="0">
            <a:off x="1005839" y="3364992"/>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MaxMind. “GeoIP Anonymous IP Database Documentation.” dev.maxmind.com/geoip/docs/databases/anonymous-ip/</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2" name="圆角矩形"/>
          <p:cNvSpPr>
            <a:spLocks/>
          </p:cNvSpPr>
          <p:nvPr/>
        </p:nvSpPr>
        <p:spPr>
          <a:xfrm rot="0">
            <a:off x="457200" y="3931920"/>
            <a:ext cx="8229600" cy="493775"/>
          </a:xfrm>
          <a:prstGeom prst="roundRect">
            <a:avLst>
              <a:gd name="adj" fmla="val 14814"/>
            </a:avLst>
          </a:prstGeom>
          <a:solidFill>
            <a:schemeClr val="bg2"/>
          </a:solidFill>
          <a:ln w="6350" cmpd="sng" cap="flat">
            <a:solidFill>
              <a:srgbClr val="EEF2FF"/>
            </a:solidFill>
            <a:prstDash val="solid"/>
            <a:round/>
          </a:ln>
        </p:spPr>
      </p:sp>
      <p:sp>
        <p:nvSpPr>
          <p:cNvPr id="393" name="椭圆"/>
          <p:cNvSpPr>
            <a:spLocks/>
          </p:cNvSpPr>
          <p:nvPr/>
        </p:nvSpPr>
        <p:spPr>
          <a:xfrm rot="0">
            <a:off x="566928" y="4023359"/>
            <a:ext cx="310895" cy="310896"/>
          </a:xfrm>
          <a:prstGeom prst="ellipse"/>
          <a:solidFill>
            <a:schemeClr val="accent1"/>
          </a:solidFill>
          <a:ln w="6350" cmpd="sng" cap="flat">
            <a:solidFill>
              <a:srgbClr val="1A3BD8"/>
            </a:solidFill>
            <a:prstDash val="solid"/>
            <a:round/>
          </a:ln>
        </p:spPr>
      </p:sp>
      <p:sp>
        <p:nvSpPr>
          <p:cNvPr id="394" name="矩形"/>
          <p:cNvSpPr>
            <a:spLocks/>
          </p:cNvSpPr>
          <p:nvPr/>
        </p:nvSpPr>
        <p:spPr>
          <a:xfrm rot="0">
            <a:off x="566928" y="4023359"/>
            <a:ext cx="310895" cy="310896"/>
          </a:xfrm>
          <a:prstGeom prst="rect"/>
          <a:noFill/>
          <a:ln w="12700" cmpd="sng" cap="flat">
            <a:noFill/>
            <a:prstDash val="solid"/>
            <a:miter/>
          </a:ln>
        </p:spPr>
        <p:txBody>
          <a:bodyPr vert="horz" wrap="square" lIns="0" tIns="0" rIns="0" bIns="0" anchor="ctr" anchorCtr="0">
            <a:prstTxWarp prst="textNoShape"/>
          </a:bodyPr>
          <a:lstStyle/>
          <a:p>
            <a:pPr marL="0" indent="0" algn="ctr">
              <a:lnSpc>
                <a:spcPct val="100000"/>
              </a:lnSpc>
              <a:spcBef>
                <a:spcPts val="0"/>
              </a:spcBef>
              <a:spcAft>
                <a:spcPts val="0"/>
              </a:spcAft>
              <a:buNone/>
            </a:pPr>
            <a:r>
              <a:rPr lang="en-US" altLang="zh-CN" sz="1200" b="1" i="0" u="none" strike="noStrike" kern="1200" cap="none" spc="0" baseline="0">
                <a:solidFill>
                  <a:schemeClr val="bg1"/>
                </a:solidFill>
                <a:latin typeface="Calibri" pitchFamily="0" charset="0"/>
                <a:ea typeface="等线" pitchFamily="0" charset="0"/>
                <a:cs typeface="Calibri" pitchFamily="0" charset="0"/>
              </a:rPr>
              <a:t>6</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5" name="矩形"/>
          <p:cNvSpPr>
            <a:spLocks/>
          </p:cNvSpPr>
          <p:nvPr/>
        </p:nvSpPr>
        <p:spPr>
          <a:xfrm rot="0">
            <a:off x="1005839" y="3931920"/>
            <a:ext cx="7543800" cy="493775"/>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100" b="0" i="0" u="none" strike="noStrike" kern="1200" cap="none" spc="0" baseline="0">
                <a:solidFill>
                  <a:schemeClr val="tx1"/>
                </a:solidFill>
                <a:latin typeface="Calibri" pitchFamily="0" charset="0"/>
                <a:ea typeface="等线" pitchFamily="0" charset="0"/>
                <a:cs typeface="Calibri" pitchFamily="0" charset="0"/>
              </a:rPr>
              <a:t>MaxMind. “GeoIP and GeoLite Database Documentation.” dev.maxmind.com/geoip/docs/databases/</a:t>
            </a:r>
            <a:endParaRPr lang="zh-CN" altLang="en-US" sz="1100" b="0" i="0" u="none" strike="noStrike" kern="1200" cap="none" spc="0" baseline="0">
              <a:solidFill>
                <a:schemeClr val="tx1"/>
              </a:solidFill>
              <a:latin typeface="Calibri" pitchFamily="0" charset="0"/>
              <a:ea typeface="等线" pitchFamily="0" charset="0"/>
              <a:cs typeface="Calibri" pitchFamily="0" charset="0"/>
            </a:endParaRPr>
          </a:p>
        </p:txBody>
      </p:sp>
      <p:sp>
        <p:nvSpPr>
          <p:cNvPr id="396" name="文本框"/>
          <p:cNvSpPr>
            <a:spLocks noGrp="1"/>
          </p:cNvSpPr>
          <p:nvPr>
            <p:ph type="sldNum"/>
          </p:nvPr>
        </p:nvSpPr>
        <p:spPr>
          <a:xfrm rot="0">
            <a:off x="7955280" y="4773168"/>
            <a:ext cx="411480" cy="228600"/>
          </a:xfrm>
          <a:prstGeom prst="rect"/>
          <a:noFill/>
          <a:ln cmpd="sng" cap="flat">
            <a:noFill/>
            <a:prstDash val="solid"/>
            <a:miter/>
          </a:ln>
        </p:spPr>
        <p:txBody>
          <a:bodyPr vert="horz" wrap="none" lIns="0" tIns="0" rIns="0" bIns="0" anchor="t" anchorCtr="0">
            <a:prstTxWarp prst="textNoShape"/>
          </a:bodyPr>
          <a:lstStyle/>
          <a:p>
            <a:pPr marL="0" indent="0" algn="r">
              <a:lnSpc>
                <a:spcPct val="100000"/>
              </a:lnSpc>
              <a:spcBef>
                <a:spcPts val="0"/>
              </a:spcBef>
              <a:spcAft>
                <a:spcPts val="0"/>
              </a:spcAft>
              <a:buNone/>
            </a:pPr>
            <a:fld id="{CAD2D6BD-DE1B-4B5F-8B41-2702339687B9}" type="slidenum">
              <a:rPr lang="en-US" altLang="zh-CN" sz="1000" b="0" i="0" u="none" strike="noStrike" kern="1200" cap="none" spc="0" baseline="0">
                <a:solidFill>
                  <a:srgbClr val="5B6478"/>
                </a:solidFill>
                <a:latin typeface="Calibri" pitchFamily="0" charset="0"/>
                <a:ea typeface="等线" pitchFamily="0" charset="0"/>
                <a:cs typeface="Calibri" pitchFamily="0" charset="0"/>
              </a:rPr>
              <a:t>9</a:t>
            </a:fld>
            <a:endParaRPr lang="zh-CN" altLang="en-US" sz="1000" b="0" i="0" u="none" strike="noStrike" kern="1200" cap="none" spc="0" baseline="0">
              <a:solidFill>
                <a:srgbClr val="5B6478"/>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938866593"/>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0A1F6B"/>
        </a:solidFill>
      </p:bgPr>
    </p:bg>
    <p:spTree>
      <p:nvGrpSpPr>
        <p:cNvPr id="1" name=""/>
        <p:cNvGrpSpPr/>
        <p:nvPr/>
      </p:nvGrpSpPr>
      <p:grpSpPr>
        <a:xfrm>
          <a:off x="0" y="0"/>
          <a:ext cx="0" cy="0"/>
          <a:chOff x="0" y="0"/>
          <a:chExt cx="0" cy="0"/>
        </a:xfrm>
      </p:grpSpPr>
      <p:sp>
        <p:nvSpPr>
          <p:cNvPr id="399" name="椭圆"/>
          <p:cNvSpPr>
            <a:spLocks/>
          </p:cNvSpPr>
          <p:nvPr/>
        </p:nvSpPr>
        <p:spPr>
          <a:xfrm rot="0">
            <a:off x="502919" y="365760"/>
            <a:ext cx="731520" cy="731519"/>
          </a:xfrm>
          <a:prstGeom prst="ellipse"/>
          <a:solidFill>
            <a:schemeClr val="bg1"/>
          </a:solidFill>
          <a:ln w="6350" cmpd="sng" cap="flat">
            <a:solidFill>
              <a:srgbClr val="FFFFFF"/>
            </a:solidFill>
            <a:prstDash val="solid"/>
            <a:round/>
          </a:ln>
        </p:spPr>
      </p:sp>
      <p:pic>
        <p:nvPicPr>
          <p:cNvPr id="400" name="图片" descr="aiori_logo.png"/>
          <p:cNvPicPr>
            <a:picLocks noChangeAspect="1"/>
          </p:cNvPicPr>
          <p:nvPr/>
        </p:nvPicPr>
        <p:blipFill>
          <a:blip r:embed="rId1" cstate="print"/>
          <a:stretch>
            <a:fillRect/>
          </a:stretch>
        </p:blipFill>
        <p:spPr>
          <a:xfrm rot="0">
            <a:off x="557784" y="420624"/>
            <a:ext cx="621791" cy="617220"/>
          </a:xfrm>
          <a:prstGeom prst="rect"/>
          <a:noFill/>
          <a:ln w="12700" cmpd="sng" cap="flat">
            <a:noFill/>
            <a:prstDash val="solid"/>
            <a:miter/>
          </a:ln>
        </p:spPr>
      </p:pic>
      <p:sp>
        <p:nvSpPr>
          <p:cNvPr id="401" name="文本框"/>
          <p:cNvSpPr>
            <a:spLocks noGrp="1"/>
          </p:cNvSpPr>
          <p:nvPr>
            <p:ph type="title"/>
          </p:nvPr>
        </p:nvSpPr>
        <p:spPr>
          <a:xfrm rot="0">
            <a:off x="548640" y="1417320"/>
            <a:ext cx="5394960" cy="1737359"/>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3800" b="1" i="0" u="none" strike="noStrike" kern="1200" cap="none" spc="0" baseline="0">
                <a:solidFill>
                  <a:schemeClr val="bg1"/>
                </a:solidFill>
                <a:latin typeface="Calibri" pitchFamily="0" charset="0"/>
                <a:ea typeface="等线 Light" pitchFamily="0" charset="0"/>
                <a:cs typeface="Lucida Sans"/>
              </a:rPr>
              <a:t>Thank You!</a:t>
            </a:r>
            <a:endParaRPr lang="zh-CN" altLang="en-US" sz="3800" b="1" i="0" u="none" strike="noStrike" kern="1200" cap="none" spc="0" baseline="0">
              <a:solidFill>
                <a:schemeClr val="bg1"/>
              </a:solidFill>
              <a:latin typeface="Calibri" pitchFamily="0" charset="0"/>
              <a:ea typeface="等线 Light" pitchFamily="0" charset="0"/>
              <a:cs typeface="Lucida Sans"/>
            </a:endParaRPr>
          </a:p>
        </p:txBody>
      </p:sp>
      <p:sp>
        <p:nvSpPr>
          <p:cNvPr id="402" name="矩形"/>
          <p:cNvSpPr>
            <a:spLocks/>
          </p:cNvSpPr>
          <p:nvPr/>
        </p:nvSpPr>
        <p:spPr>
          <a:xfrm rot="0">
            <a:off x="548640" y="2194560"/>
            <a:ext cx="5486400" cy="32004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600" b="1" i="0" u="none" strike="noStrike" kern="1200" cap="none" spc="0" baseline="0">
                <a:solidFill>
                  <a:schemeClr val="accent2"/>
                </a:solidFill>
                <a:latin typeface="Calibri" pitchFamily="0" charset="0"/>
                <a:ea typeface="等线" pitchFamily="0" charset="0"/>
                <a:cs typeface="Calibri" pitchFamily="0" charset="0"/>
              </a:rPr>
              <a:t>PS-010 — Evidence-Based IP Network-Type Classification</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403" name="矩形"/>
          <p:cNvSpPr>
            <a:spLocks/>
          </p:cNvSpPr>
          <p:nvPr/>
        </p:nvSpPr>
        <p:spPr>
          <a:xfrm rot="0">
            <a:off x="548640" y="2560320"/>
            <a:ext cx="5486400" cy="32004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1600" b="0" i="1" u="none" strike="noStrike" kern="1200" cap="none" spc="0" baseline="0">
                <a:solidFill>
                  <a:schemeClr val="accent4"/>
                </a:solidFill>
                <a:latin typeface="Calibri" pitchFamily="0" charset="0"/>
                <a:ea typeface="等线" pitchFamily="0" charset="0"/>
                <a:cs typeface="Calibri" pitchFamily="0" charset="0"/>
              </a:rPr>
              <a:t>Turning network data into evidence-based intelligence.</a:t>
            </a:r>
            <a:endParaRPr lang="zh-CN" altLang="en-US" sz="1600" b="0" i="0" u="none" strike="noStrike" kern="1200" cap="none" spc="0" baseline="0">
              <a:solidFill>
                <a:schemeClr val="tx1"/>
              </a:solidFill>
              <a:latin typeface="Calibri" pitchFamily="0" charset="0"/>
              <a:ea typeface="等线" pitchFamily="0" charset="0"/>
              <a:cs typeface="Calibri" pitchFamily="0" charset="0"/>
            </a:endParaRPr>
          </a:p>
        </p:txBody>
      </p:sp>
      <p:sp>
        <p:nvSpPr>
          <p:cNvPr id="404" name="矩形"/>
          <p:cNvSpPr>
            <a:spLocks/>
          </p:cNvSpPr>
          <p:nvPr/>
        </p:nvSpPr>
        <p:spPr>
          <a:xfrm rot="0">
            <a:off x="548640" y="3200400"/>
            <a:ext cx="5669280" cy="502920"/>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40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Team Member 1</a:t>
            </a:r>
            <a:r>
              <a:rPr lang="en-US" altLang="zh-CN" sz="1200" b="0" i="0" u="none" strike="noStrike" kern="1200" cap="none" spc="0" baseline="0">
                <a:solidFill>
                  <a:schemeClr val="bg1"/>
                </a:solidFill>
                <a:latin typeface="Calibri" pitchFamily="0" charset="0"/>
                <a:ea typeface="等线" pitchFamily="0" charset="0"/>
                <a:cs typeface="Calibri" pitchFamily="0" charset="0"/>
              </a:rPr>
              <a:t> — </a:t>
            </a:r>
            <a:r>
              <a:rPr lang="en-US" altLang="zh-CN" sz="1200" b="0" i="0" u="none" strike="noStrike" kern="1200" cap="none" spc="0" baseline="0">
                <a:solidFill>
                  <a:schemeClr val="bg1"/>
                </a:solidFill>
                <a:latin typeface="Calibri" pitchFamily="0" charset="0"/>
                <a:ea typeface="等线" pitchFamily="0" charset="0"/>
                <a:cs typeface="Calibri" pitchFamily="0" charset="0"/>
              </a:rPr>
              <a:t>Ameen Ahmed Jaffer</a:t>
            </a:r>
            <a:endParaRPr lang="en-US" altLang="zh-CN" sz="120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00000"/>
              </a:lnSpc>
              <a:spcBef>
                <a:spcPts val="0"/>
              </a:spcBef>
              <a:spcAft>
                <a:spcPts val="400"/>
              </a:spcAft>
              <a:buNone/>
            </a:pPr>
            <a:r>
              <a:rPr lang="en-US" altLang="zh-CN" sz="1200" b="1" i="0" u="none" strike="noStrike" kern="1200" cap="none" spc="0" baseline="0">
                <a:solidFill>
                  <a:schemeClr val="accent2"/>
                </a:solidFill>
                <a:latin typeface="Calibri" pitchFamily="0" charset="0"/>
                <a:ea typeface="等线" pitchFamily="0" charset="0"/>
                <a:cs typeface="Calibri" pitchFamily="0" charset="0"/>
              </a:rPr>
              <a:t>Team Member 2</a:t>
            </a:r>
            <a:r>
              <a:rPr lang="en-US" altLang="zh-CN" sz="1200" b="0" i="0" u="none" strike="noStrike" kern="1200" cap="none" spc="0" baseline="0">
                <a:solidFill>
                  <a:schemeClr val="bg1"/>
                </a:solidFill>
                <a:latin typeface="Calibri" pitchFamily="0" charset="0"/>
                <a:ea typeface="等线" pitchFamily="0" charset="0"/>
                <a:cs typeface="Calibri" pitchFamily="0" charset="0"/>
              </a:rPr>
              <a:t> — </a:t>
            </a:r>
            <a:r>
              <a:rPr lang="en-US" altLang="zh-CN" sz="1200" b="0" i="0" u="none" strike="noStrike" kern="1200" cap="none" spc="0" baseline="0">
                <a:solidFill>
                  <a:schemeClr val="bg1"/>
                </a:solidFill>
                <a:latin typeface="Calibri" pitchFamily="0" charset="0"/>
                <a:ea typeface="等线" pitchFamily="0" charset="0"/>
                <a:cs typeface="Calibri" pitchFamily="0" charset="0"/>
              </a:rPr>
              <a:t>Askari Imam</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405" name="圆角矩形"/>
          <p:cNvSpPr>
            <a:spLocks/>
          </p:cNvSpPr>
          <p:nvPr/>
        </p:nvSpPr>
        <p:spPr>
          <a:xfrm rot="0">
            <a:off x="548640" y="4023359"/>
            <a:ext cx="3017519" cy="548639"/>
          </a:xfrm>
          <a:prstGeom prst="roundRect">
            <a:avLst>
              <a:gd name="adj" fmla="val 50000"/>
            </a:avLst>
          </a:prstGeom>
          <a:solidFill>
            <a:schemeClr val="accent2"/>
          </a:solidFill>
          <a:ln w="6350" cmpd="sng" cap="flat">
            <a:solidFill>
              <a:srgbClr val="FF9933"/>
            </a:solidFill>
            <a:prstDash val="solid"/>
            <a:round/>
          </a:ln>
        </p:spPr>
      </p:sp>
      <p:pic>
        <p:nvPicPr>
          <p:cNvPr id="406" name="图片" descr="preencoded.png"/>
          <p:cNvPicPr>
            <a:picLocks noChangeAspect="1"/>
          </p:cNvPicPr>
          <p:nvPr/>
        </p:nvPicPr>
        <p:blipFill>
          <a:blip r:embed="rId2" cstate="print"/>
          <a:stretch>
            <a:fillRect/>
          </a:stretch>
        </p:blipFill>
        <p:spPr>
          <a:xfrm rot="0">
            <a:off x="749808" y="4160520"/>
            <a:ext cx="274320" cy="274320"/>
          </a:xfrm>
          <a:prstGeom prst="rect"/>
          <a:noFill/>
          <a:ln w="12700" cmpd="sng" cap="flat">
            <a:noFill/>
            <a:prstDash val="solid"/>
            <a:miter/>
          </a:ln>
        </p:spPr>
      </p:pic>
      <p:sp>
        <p:nvSpPr>
          <p:cNvPr id="407" name="矩形"/>
          <p:cNvSpPr>
            <a:spLocks/>
          </p:cNvSpPr>
          <p:nvPr/>
        </p:nvSpPr>
        <p:spPr>
          <a:xfrm rot="0">
            <a:off x="1143000" y="4023359"/>
            <a:ext cx="2377440" cy="548639"/>
          </a:xfrm>
          <a:prstGeom prst="rect"/>
          <a:noFill/>
          <a:ln w="12700" cmpd="sng" cap="flat">
            <a:noFill/>
            <a:prstDash val="solid"/>
            <a:miter/>
          </a:ln>
        </p:spPr>
        <p:txBody>
          <a:bodyPr vert="horz" wrap="square" lIns="0" tIns="0" rIns="0" bIns="0" anchor="ctr" anchorCtr="0">
            <a:prstTxWarp prst="textNoShape"/>
          </a:bodyPr>
          <a:lstStyle/>
          <a:p>
            <a:pPr marL="0" indent="0" algn="l">
              <a:lnSpc>
                <a:spcPct val="100000"/>
              </a:lnSpc>
              <a:spcBef>
                <a:spcPts val="0"/>
              </a:spcBef>
              <a:spcAft>
                <a:spcPts val="0"/>
              </a:spcAft>
              <a:buNone/>
            </a:pPr>
            <a:r>
              <a:rPr lang="en-US" altLang="zh-CN" sz="1400" b="1" i="0" u="none" strike="noStrike" kern="1200" cap="none" spc="0" baseline="0">
                <a:solidFill>
                  <a:schemeClr val="tx1"/>
                </a:solidFill>
                <a:latin typeface="Calibri" pitchFamily="0" charset="0"/>
                <a:ea typeface="等线" pitchFamily="0" charset="0"/>
                <a:cs typeface="Calibri" pitchFamily="0" charset="0"/>
              </a:rPr>
              <a:t>Questions and Discussion</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408" name="直线"/>
          <p:cNvSpPr>
            <a:spLocks/>
          </p:cNvSpPr>
          <p:nvPr/>
        </p:nvSpPr>
        <p:spPr>
          <a:xfrm flipV="1" rot="0">
            <a:off x="6327647" y="1289304"/>
            <a:ext cx="804672" cy="201168"/>
          </a:xfrm>
          <a:prstGeom prst="line"/>
          <a:noFill/>
          <a:ln w="15875" cmpd="sng" cap="flat">
            <a:solidFill>
              <a:srgbClr val="7C93F5">
                <a:alpha val="60000"/>
              </a:srgbClr>
            </a:solidFill>
            <a:prstDash val="solid"/>
            <a:round/>
          </a:ln>
        </p:spPr>
      </p:sp>
      <p:sp>
        <p:nvSpPr>
          <p:cNvPr id="409" name="直线"/>
          <p:cNvSpPr>
            <a:spLocks/>
          </p:cNvSpPr>
          <p:nvPr/>
        </p:nvSpPr>
        <p:spPr>
          <a:xfrm rot="0">
            <a:off x="7132320" y="1289304"/>
            <a:ext cx="905256" cy="352044"/>
          </a:xfrm>
          <a:prstGeom prst="line"/>
          <a:noFill/>
          <a:ln w="15875" cmpd="sng" cap="flat">
            <a:solidFill>
              <a:srgbClr val="7C93F5">
                <a:alpha val="60000"/>
              </a:srgbClr>
            </a:solidFill>
            <a:prstDash val="solid"/>
            <a:round/>
          </a:ln>
        </p:spPr>
      </p:sp>
      <p:sp>
        <p:nvSpPr>
          <p:cNvPr id="410" name="直线"/>
          <p:cNvSpPr>
            <a:spLocks/>
          </p:cNvSpPr>
          <p:nvPr/>
        </p:nvSpPr>
        <p:spPr>
          <a:xfrm rot="0">
            <a:off x="6327647" y="1490471"/>
            <a:ext cx="402336" cy="804672"/>
          </a:xfrm>
          <a:prstGeom prst="line"/>
          <a:noFill/>
          <a:ln w="15875" cmpd="sng" cap="flat">
            <a:solidFill>
              <a:srgbClr val="7C93F5">
                <a:alpha val="60000"/>
              </a:srgbClr>
            </a:solidFill>
            <a:prstDash val="solid"/>
            <a:round/>
          </a:ln>
        </p:spPr>
      </p:sp>
      <p:sp>
        <p:nvSpPr>
          <p:cNvPr id="411" name="直线"/>
          <p:cNvSpPr>
            <a:spLocks/>
          </p:cNvSpPr>
          <p:nvPr/>
        </p:nvSpPr>
        <p:spPr>
          <a:xfrm rot="0">
            <a:off x="7132320" y="1289304"/>
            <a:ext cx="502919" cy="1106424"/>
          </a:xfrm>
          <a:prstGeom prst="line"/>
          <a:noFill/>
          <a:ln w="15875" cmpd="sng" cap="flat">
            <a:solidFill>
              <a:srgbClr val="7C93F5">
                <a:alpha val="60000"/>
              </a:srgbClr>
            </a:solidFill>
            <a:prstDash val="solid"/>
            <a:round/>
          </a:ln>
        </p:spPr>
      </p:sp>
      <p:sp>
        <p:nvSpPr>
          <p:cNvPr id="412" name="直线"/>
          <p:cNvSpPr>
            <a:spLocks/>
          </p:cNvSpPr>
          <p:nvPr/>
        </p:nvSpPr>
        <p:spPr>
          <a:xfrm rot="0">
            <a:off x="8037576" y="1641348"/>
            <a:ext cx="502919" cy="553212"/>
          </a:xfrm>
          <a:prstGeom prst="line"/>
          <a:noFill/>
          <a:ln w="15875" cmpd="sng" cap="flat">
            <a:solidFill>
              <a:srgbClr val="7C93F5">
                <a:alpha val="60000"/>
              </a:srgbClr>
            </a:solidFill>
            <a:prstDash val="solid"/>
            <a:round/>
          </a:ln>
        </p:spPr>
      </p:sp>
      <p:sp>
        <p:nvSpPr>
          <p:cNvPr id="413" name="直线"/>
          <p:cNvSpPr>
            <a:spLocks/>
          </p:cNvSpPr>
          <p:nvPr/>
        </p:nvSpPr>
        <p:spPr>
          <a:xfrm rot="0">
            <a:off x="6729984" y="2295144"/>
            <a:ext cx="905256" cy="100584"/>
          </a:xfrm>
          <a:prstGeom prst="line"/>
          <a:noFill/>
          <a:ln w="15875" cmpd="sng" cap="flat">
            <a:solidFill>
              <a:srgbClr val="7C93F5">
                <a:alpha val="60000"/>
              </a:srgbClr>
            </a:solidFill>
            <a:prstDash val="solid"/>
            <a:round/>
          </a:ln>
        </p:spPr>
      </p:sp>
      <p:sp>
        <p:nvSpPr>
          <p:cNvPr id="414" name="直线"/>
          <p:cNvSpPr>
            <a:spLocks/>
          </p:cNvSpPr>
          <p:nvPr/>
        </p:nvSpPr>
        <p:spPr>
          <a:xfrm flipV="1" rot="0">
            <a:off x="7635240" y="2194560"/>
            <a:ext cx="905256" cy="201168"/>
          </a:xfrm>
          <a:prstGeom prst="line"/>
          <a:noFill/>
          <a:ln w="15875" cmpd="sng" cap="flat">
            <a:solidFill>
              <a:srgbClr val="7C93F5">
                <a:alpha val="60000"/>
              </a:srgbClr>
            </a:solidFill>
            <a:prstDash val="solid"/>
            <a:round/>
          </a:ln>
        </p:spPr>
      </p:sp>
      <p:sp>
        <p:nvSpPr>
          <p:cNvPr id="415" name="直线"/>
          <p:cNvSpPr>
            <a:spLocks/>
          </p:cNvSpPr>
          <p:nvPr/>
        </p:nvSpPr>
        <p:spPr>
          <a:xfrm flipV="1" rot="0">
            <a:off x="6227064" y="2295144"/>
            <a:ext cx="502919" cy="804671"/>
          </a:xfrm>
          <a:prstGeom prst="line"/>
          <a:noFill/>
          <a:ln w="15875" cmpd="sng" cap="flat">
            <a:solidFill>
              <a:srgbClr val="7C93F5">
                <a:alpha val="60000"/>
              </a:srgbClr>
            </a:solidFill>
            <a:prstDash val="solid"/>
            <a:round/>
          </a:ln>
        </p:spPr>
      </p:sp>
      <p:sp>
        <p:nvSpPr>
          <p:cNvPr id="416" name="直线"/>
          <p:cNvSpPr>
            <a:spLocks/>
          </p:cNvSpPr>
          <p:nvPr/>
        </p:nvSpPr>
        <p:spPr>
          <a:xfrm rot="0">
            <a:off x="6729984" y="2295144"/>
            <a:ext cx="502919" cy="1005839"/>
          </a:xfrm>
          <a:prstGeom prst="line"/>
          <a:noFill/>
          <a:ln w="15875" cmpd="sng" cap="flat">
            <a:solidFill>
              <a:srgbClr val="7C93F5">
                <a:alpha val="60000"/>
              </a:srgbClr>
            </a:solidFill>
            <a:prstDash val="solid"/>
            <a:round/>
          </a:ln>
        </p:spPr>
      </p:sp>
      <p:sp>
        <p:nvSpPr>
          <p:cNvPr id="417" name="直线"/>
          <p:cNvSpPr>
            <a:spLocks/>
          </p:cNvSpPr>
          <p:nvPr/>
        </p:nvSpPr>
        <p:spPr>
          <a:xfrm flipV="1" rot="0">
            <a:off x="7232904" y="2395728"/>
            <a:ext cx="402336" cy="905256"/>
          </a:xfrm>
          <a:prstGeom prst="line"/>
          <a:noFill/>
          <a:ln w="15875" cmpd="sng" cap="flat">
            <a:solidFill>
              <a:srgbClr val="7C93F5">
                <a:alpha val="60000"/>
              </a:srgbClr>
            </a:solidFill>
            <a:prstDash val="solid"/>
            <a:round/>
          </a:ln>
        </p:spPr>
      </p:sp>
      <p:sp>
        <p:nvSpPr>
          <p:cNvPr id="418" name="直线"/>
          <p:cNvSpPr>
            <a:spLocks/>
          </p:cNvSpPr>
          <p:nvPr/>
        </p:nvSpPr>
        <p:spPr>
          <a:xfrm rot="0">
            <a:off x="7635240" y="2395728"/>
            <a:ext cx="502919" cy="804672"/>
          </a:xfrm>
          <a:prstGeom prst="line"/>
          <a:noFill/>
          <a:ln w="15875" cmpd="sng" cap="flat">
            <a:solidFill>
              <a:srgbClr val="7C93F5">
                <a:alpha val="60000"/>
              </a:srgbClr>
            </a:solidFill>
            <a:prstDash val="solid"/>
            <a:round/>
          </a:ln>
        </p:spPr>
      </p:sp>
      <p:sp>
        <p:nvSpPr>
          <p:cNvPr id="419" name="直线"/>
          <p:cNvSpPr>
            <a:spLocks/>
          </p:cNvSpPr>
          <p:nvPr/>
        </p:nvSpPr>
        <p:spPr>
          <a:xfrm rot="0">
            <a:off x="8540496" y="2194560"/>
            <a:ext cx="301751" cy="754379"/>
          </a:xfrm>
          <a:prstGeom prst="line"/>
          <a:noFill/>
          <a:ln w="15875" cmpd="sng" cap="flat">
            <a:solidFill>
              <a:srgbClr val="7C93F5">
                <a:alpha val="60000"/>
              </a:srgbClr>
            </a:solidFill>
            <a:prstDash val="solid"/>
            <a:round/>
          </a:ln>
        </p:spPr>
      </p:sp>
      <p:sp>
        <p:nvSpPr>
          <p:cNvPr id="420" name="直线"/>
          <p:cNvSpPr>
            <a:spLocks/>
          </p:cNvSpPr>
          <p:nvPr/>
        </p:nvSpPr>
        <p:spPr>
          <a:xfrm flipV="1" rot="0">
            <a:off x="8138160" y="2948940"/>
            <a:ext cx="704088" cy="251459"/>
          </a:xfrm>
          <a:prstGeom prst="line"/>
          <a:noFill/>
          <a:ln w="15875" cmpd="sng" cap="flat">
            <a:solidFill>
              <a:srgbClr val="7C93F5">
                <a:alpha val="60000"/>
              </a:srgbClr>
            </a:solidFill>
            <a:prstDash val="solid"/>
            <a:round/>
          </a:ln>
        </p:spPr>
      </p:sp>
      <p:sp>
        <p:nvSpPr>
          <p:cNvPr id="421" name="直线"/>
          <p:cNvSpPr>
            <a:spLocks/>
          </p:cNvSpPr>
          <p:nvPr/>
        </p:nvSpPr>
        <p:spPr>
          <a:xfrm flipV="1" rot="0">
            <a:off x="7232904" y="3200400"/>
            <a:ext cx="905256" cy="100583"/>
          </a:xfrm>
          <a:prstGeom prst="line"/>
          <a:noFill/>
          <a:ln w="15875" cmpd="sng" cap="flat">
            <a:solidFill>
              <a:srgbClr val="7C93F5">
                <a:alpha val="60000"/>
              </a:srgbClr>
            </a:solidFill>
            <a:prstDash val="solid"/>
            <a:round/>
          </a:ln>
        </p:spPr>
      </p:sp>
      <p:sp>
        <p:nvSpPr>
          <p:cNvPr id="422" name="直线"/>
          <p:cNvSpPr>
            <a:spLocks/>
          </p:cNvSpPr>
          <p:nvPr/>
        </p:nvSpPr>
        <p:spPr>
          <a:xfrm flipV="1" rot="0">
            <a:off x="7635240" y="1641348"/>
            <a:ext cx="402336" cy="754379"/>
          </a:xfrm>
          <a:prstGeom prst="line"/>
          <a:noFill/>
          <a:ln w="15875" cmpd="sng" cap="flat">
            <a:solidFill>
              <a:srgbClr val="7C93F5">
                <a:alpha val="60000"/>
              </a:srgbClr>
            </a:solidFill>
            <a:prstDash val="solid"/>
            <a:round/>
          </a:ln>
        </p:spPr>
      </p:sp>
      <p:sp>
        <p:nvSpPr>
          <p:cNvPr id="423" name="椭圆"/>
          <p:cNvSpPr>
            <a:spLocks/>
          </p:cNvSpPr>
          <p:nvPr/>
        </p:nvSpPr>
        <p:spPr>
          <a:xfrm rot="0">
            <a:off x="6236208" y="1399032"/>
            <a:ext cx="182880" cy="182879"/>
          </a:xfrm>
          <a:prstGeom prst="ellipse"/>
          <a:solidFill>
            <a:schemeClr val="accent4"/>
          </a:solidFill>
          <a:ln w="6350" cmpd="sng" cap="flat">
            <a:solidFill>
              <a:srgbClr val="7C93F5"/>
            </a:solidFill>
            <a:prstDash val="solid"/>
            <a:round/>
          </a:ln>
        </p:spPr>
      </p:sp>
      <p:sp>
        <p:nvSpPr>
          <p:cNvPr id="424" name="椭圆"/>
          <p:cNvSpPr>
            <a:spLocks/>
          </p:cNvSpPr>
          <p:nvPr/>
        </p:nvSpPr>
        <p:spPr>
          <a:xfrm rot="0">
            <a:off x="7068312" y="1225295"/>
            <a:ext cx="128015" cy="128015"/>
          </a:xfrm>
          <a:prstGeom prst="ellipse"/>
          <a:solidFill>
            <a:schemeClr val="accent4"/>
          </a:solidFill>
          <a:ln w="6350" cmpd="sng" cap="flat">
            <a:solidFill>
              <a:srgbClr val="7C93F5"/>
            </a:solidFill>
            <a:prstDash val="solid"/>
            <a:round/>
          </a:ln>
        </p:spPr>
      </p:sp>
      <p:sp>
        <p:nvSpPr>
          <p:cNvPr id="425" name="椭圆"/>
          <p:cNvSpPr>
            <a:spLocks/>
          </p:cNvSpPr>
          <p:nvPr/>
        </p:nvSpPr>
        <p:spPr>
          <a:xfrm rot="0">
            <a:off x="7973568" y="1577340"/>
            <a:ext cx="128015" cy="128015"/>
          </a:xfrm>
          <a:prstGeom prst="ellipse"/>
          <a:solidFill>
            <a:schemeClr val="accent4"/>
          </a:solidFill>
          <a:ln w="6350" cmpd="sng" cap="flat">
            <a:solidFill>
              <a:srgbClr val="7C93F5"/>
            </a:solidFill>
            <a:prstDash val="solid"/>
            <a:round/>
          </a:ln>
        </p:spPr>
      </p:sp>
      <p:sp>
        <p:nvSpPr>
          <p:cNvPr id="426" name="椭圆"/>
          <p:cNvSpPr>
            <a:spLocks/>
          </p:cNvSpPr>
          <p:nvPr/>
        </p:nvSpPr>
        <p:spPr>
          <a:xfrm rot="0">
            <a:off x="6638544" y="2203704"/>
            <a:ext cx="182880" cy="182879"/>
          </a:xfrm>
          <a:prstGeom prst="ellipse"/>
          <a:solidFill>
            <a:schemeClr val="accent4"/>
          </a:solidFill>
          <a:ln w="6350" cmpd="sng" cap="flat">
            <a:solidFill>
              <a:srgbClr val="7C93F5"/>
            </a:solidFill>
            <a:prstDash val="solid"/>
            <a:round/>
          </a:ln>
        </p:spPr>
      </p:sp>
      <p:sp>
        <p:nvSpPr>
          <p:cNvPr id="427" name="椭圆"/>
          <p:cNvSpPr>
            <a:spLocks/>
          </p:cNvSpPr>
          <p:nvPr/>
        </p:nvSpPr>
        <p:spPr>
          <a:xfrm rot="0">
            <a:off x="7571232" y="2331720"/>
            <a:ext cx="128015" cy="128015"/>
          </a:xfrm>
          <a:prstGeom prst="ellipse"/>
          <a:solidFill>
            <a:schemeClr val="accent2"/>
          </a:solidFill>
          <a:ln w="6350" cmpd="sng" cap="flat">
            <a:solidFill>
              <a:srgbClr val="FF9933"/>
            </a:solidFill>
            <a:prstDash val="solid"/>
            <a:round/>
          </a:ln>
        </p:spPr>
      </p:sp>
      <p:sp>
        <p:nvSpPr>
          <p:cNvPr id="428" name="椭圆"/>
          <p:cNvSpPr>
            <a:spLocks/>
          </p:cNvSpPr>
          <p:nvPr/>
        </p:nvSpPr>
        <p:spPr>
          <a:xfrm rot="0">
            <a:off x="8476488" y="2130552"/>
            <a:ext cx="128015" cy="128015"/>
          </a:xfrm>
          <a:prstGeom prst="ellipse"/>
          <a:solidFill>
            <a:schemeClr val="accent4"/>
          </a:solidFill>
          <a:ln w="6350" cmpd="sng" cap="flat">
            <a:solidFill>
              <a:srgbClr val="7C93F5"/>
            </a:solidFill>
            <a:prstDash val="solid"/>
            <a:round/>
          </a:ln>
        </p:spPr>
      </p:sp>
      <p:sp>
        <p:nvSpPr>
          <p:cNvPr id="429" name="椭圆"/>
          <p:cNvSpPr>
            <a:spLocks/>
          </p:cNvSpPr>
          <p:nvPr/>
        </p:nvSpPr>
        <p:spPr>
          <a:xfrm rot="0">
            <a:off x="6135624" y="3008376"/>
            <a:ext cx="182880" cy="182879"/>
          </a:xfrm>
          <a:prstGeom prst="ellipse"/>
          <a:solidFill>
            <a:schemeClr val="accent4"/>
          </a:solidFill>
          <a:ln w="6350" cmpd="sng" cap="flat">
            <a:solidFill>
              <a:srgbClr val="7C93F5"/>
            </a:solidFill>
            <a:prstDash val="solid"/>
            <a:round/>
          </a:ln>
        </p:spPr>
      </p:sp>
      <p:sp>
        <p:nvSpPr>
          <p:cNvPr id="430" name="椭圆"/>
          <p:cNvSpPr>
            <a:spLocks/>
          </p:cNvSpPr>
          <p:nvPr/>
        </p:nvSpPr>
        <p:spPr>
          <a:xfrm rot="0">
            <a:off x="7168896" y="3236975"/>
            <a:ext cx="128015" cy="128016"/>
          </a:xfrm>
          <a:prstGeom prst="ellipse"/>
          <a:solidFill>
            <a:schemeClr val="accent4"/>
          </a:solidFill>
          <a:ln w="6350" cmpd="sng" cap="flat">
            <a:solidFill>
              <a:srgbClr val="7C93F5"/>
            </a:solidFill>
            <a:prstDash val="solid"/>
            <a:round/>
          </a:ln>
        </p:spPr>
      </p:sp>
      <p:sp>
        <p:nvSpPr>
          <p:cNvPr id="431" name="椭圆"/>
          <p:cNvSpPr>
            <a:spLocks/>
          </p:cNvSpPr>
          <p:nvPr/>
        </p:nvSpPr>
        <p:spPr>
          <a:xfrm rot="0">
            <a:off x="8074152" y="3136392"/>
            <a:ext cx="128015" cy="128016"/>
          </a:xfrm>
          <a:prstGeom prst="ellipse"/>
          <a:solidFill>
            <a:schemeClr val="accent4"/>
          </a:solidFill>
          <a:ln w="6350" cmpd="sng" cap="flat">
            <a:solidFill>
              <a:srgbClr val="7C93F5"/>
            </a:solidFill>
            <a:prstDash val="solid"/>
            <a:round/>
          </a:ln>
        </p:spPr>
      </p:sp>
      <p:sp>
        <p:nvSpPr>
          <p:cNvPr id="432" name="椭圆"/>
          <p:cNvSpPr>
            <a:spLocks/>
          </p:cNvSpPr>
          <p:nvPr/>
        </p:nvSpPr>
        <p:spPr>
          <a:xfrm rot="0">
            <a:off x="8750808" y="2857500"/>
            <a:ext cx="182880" cy="182879"/>
          </a:xfrm>
          <a:prstGeom prst="ellipse"/>
          <a:solidFill>
            <a:schemeClr val="accent4"/>
          </a:solidFill>
          <a:ln w="6350" cmpd="sng" cap="flat">
            <a:solidFill>
              <a:srgbClr val="7C93F5"/>
            </a:solidFill>
            <a:prstDash val="solid"/>
            <a:round/>
          </a:ln>
        </p:spPr>
      </p:sp>
    </p:spTree>
    <p:extLst>
      <p:ext uri="{BB962C8B-B14F-4D97-AF65-F5344CB8AC3E}">
        <p14:creationId xmlns:p14="http://schemas.microsoft.com/office/powerpoint/2010/main" val="1759902875"/>
      </p:ext>
    </p:extLst>
  </p:cSld>
  <p:clrMapOvr>
    <a:masterClrMapping/>
  </p:clrMapOvr>
</p:sld>
</file>

<file path=ppt/theme/theme1.xml><?xml version="1.0" encoding="utf-8"?>
<a:theme xmlns:a="http://schemas.openxmlformats.org/drawingml/2006/main" name="AIORI PS-010">
  <a:themeElements>
    <a:clrScheme name="AIORI PS-010">
      <a:dk1>
        <a:srgbClr val="0B1230"/>
      </a:dk1>
      <a:lt1>
        <a:srgbClr val="FFFFFF"/>
      </a:lt1>
      <a:dk2>
        <a:srgbClr val="0A1F6B"/>
      </a:dk2>
      <a:lt2>
        <a:srgbClr val="EEF2FF"/>
      </a:lt2>
      <a:accent1>
        <a:srgbClr val="1A3BD8"/>
      </a:accent1>
      <a:accent2>
        <a:srgbClr val="FF9933"/>
      </a:accent2>
      <a:accent3>
        <a:srgbClr val="138808"/>
      </a:accent3>
      <a:accent4>
        <a:srgbClr val="7C93F5"/>
      </a:accent4>
      <a:accent5>
        <a:srgbClr val="5B6478"/>
      </a:accent5>
      <a:accent6>
        <a:srgbClr val="D93F5B"/>
      </a:accent6>
      <a:hlink>
        <a:srgbClr val="1A3BD8"/>
      </a:hlink>
      <a:folHlink>
        <a:srgbClr val="5B6478"/>
      </a:folHlink>
    </a:clrScheme>
    <a:fontScheme name="AIORI PS-010">
      <a:majorFont>
        <a:latin typeface=""/>
        <a:ea typeface=""/>
        <a:cs typeface=""/>
      </a:majorFont>
      <a:minorFont>
        <a:latin typeface=""/>
        <a:ea typeface=""/>
        <a:cs typeface=""/>
      </a:minorFont>
    </a:fontScheme>
    <a:fmtScheme name="AIORI PS-010">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B1230"/>
      </a:dk1>
      <a:lt1>
        <a:srgbClr val="FFFFFF"/>
      </a:lt1>
      <a:dk2>
        <a:srgbClr val="0A1F6B"/>
      </a:dk2>
      <a:lt2>
        <a:srgbClr val="EEF2FF"/>
      </a:lt2>
      <a:accent1>
        <a:srgbClr val="1A3BD8"/>
      </a:accent1>
      <a:accent2>
        <a:srgbClr val="FF9933"/>
      </a:accent2>
      <a:accent3>
        <a:srgbClr val="138808"/>
      </a:accent3>
      <a:accent4>
        <a:srgbClr val="7C93F5"/>
      </a:accent4>
      <a:accent5>
        <a:srgbClr val="5B6478"/>
      </a:accent5>
      <a:accent6>
        <a:srgbClr val="D93F5B"/>
      </a:accent6>
      <a:hlink>
        <a:srgbClr val="1A3BD8"/>
      </a:hlink>
      <a:folHlink>
        <a:srgbClr val="5B6478"/>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3</TotalTime>
  <Application>Yozo_Office</Application>
  <Company>PptxGenJS</Company>
</Properties>
</file>

<file path=docProps/core.xml><?xml version="1.0" encoding="utf-8"?>
<cp:coreProperties xmlns:cp="http://schemas.openxmlformats.org/package/2006/metadata/core-properties" xmlns:dc="http://purl.org/dc/elements/1.1/" xmlns:dcterms="http://purl.org/dc/terms/" xmlns:xsi="http://www.w3.org/2001/XMLSchema-instance">
  <dc:title>PS-010 Evidence-Based IP Network-Type Classification</dc:title>
  <dc:subject>PptxGenJS Presentation</dc:subject>
  <dc:creator>Team PS-010</dc:creator>
  <cp:lastModifiedBy>root</cp:lastModifiedBy>
  <cp:revision>1</cp:revision>
  <dcterms:created xsi:type="dcterms:W3CDTF">2026-10-16T15:20:33Z</dcterms:created>
  <dcterms:modified xsi:type="dcterms:W3CDTF">2026-10-16T13:09:34Z</dcterms:modified>
</cp:coreProperties>
</file>